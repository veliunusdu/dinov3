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ca413a253f45d0" /><Relationship Type="http://schemas.openxmlformats.org/officeDocument/2006/relationships/extended-properties" Target="/docProps/app.xml" Id="Rd78bb238ac8a4b8f" /><Relationship Type="http://schemas.openxmlformats.org/officeDocument/2006/relationships/officeDocument" Target="/ppt/presentation.xml" Id="Rdf9c8d6b515340fc" /></Relationships>
</file>

<file path=ppt/presentation.xml><?xml version="1.0" encoding="utf-8"?>
<p:presentation xmlns:p="http://schemas.openxmlformats.org/presentationml/2006/main">
  <p:sldMasterIdLst>
    <p:sldMasterId xmlns:r="http://schemas.openxmlformats.org/officeDocument/2006/relationships" id="2147483648" r:id="Rdb507d25d41b410c"/>
  </p:sldMasterIdLst>
  <p:notesMasterIdLst>
    <p:notesMasterId xmlns:r="http://schemas.openxmlformats.org/officeDocument/2006/relationships" r:id="Re3b42ca224204d3a"/>
  </p:notesMasterIdLst>
  <p:sldIdLst>
    <p:sldId xmlns:r="http://schemas.openxmlformats.org/officeDocument/2006/relationships" id="256" r:id="Rcedf62d8f0864209"/>
    <p:sldId xmlns:r="http://schemas.openxmlformats.org/officeDocument/2006/relationships" id="257" r:id="Rcedc1df7f800477b"/>
    <p:sldId xmlns:r="http://schemas.openxmlformats.org/officeDocument/2006/relationships" id="258" r:id="Rdc5f784f03d140d7"/>
    <p:sldId xmlns:r="http://schemas.openxmlformats.org/officeDocument/2006/relationships" id="259" r:id="R9d069490004f48a2"/>
    <p:sldId xmlns:r="http://schemas.openxmlformats.org/officeDocument/2006/relationships" id="260" r:id="R3ab90eed79fa4aa5"/>
    <p:sldId xmlns:r="http://schemas.openxmlformats.org/officeDocument/2006/relationships" id="261" r:id="Rcc679e77c331460a"/>
    <p:sldId xmlns:r="http://schemas.openxmlformats.org/officeDocument/2006/relationships" id="262" r:id="R7b7e7641ae8b4966"/>
    <p:sldId xmlns:r="http://schemas.openxmlformats.org/officeDocument/2006/relationships" id="263" r:id="R6cda0771ea8c4108"/>
    <p:sldId xmlns:r="http://schemas.openxmlformats.org/officeDocument/2006/relationships" id="264" r:id="R22def5dcad734585"/>
    <p:sldId xmlns:r="http://schemas.openxmlformats.org/officeDocument/2006/relationships" id="265" r:id="R6bb2160d37de49e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d1036897cc4c7a" /><Relationship Type="http://schemas.openxmlformats.org/officeDocument/2006/relationships/slideMaster" Target="/ppt/slideMasters/slideMaster1.xml" Id="Rdb507d25d41b410c" /><Relationship Type="http://schemas.openxmlformats.org/officeDocument/2006/relationships/notesMaster" Target="/ppt/notesMasters/notesMaster1.xml" Id="Re3b42ca224204d3a" /><Relationship Type="http://schemas.openxmlformats.org/officeDocument/2006/relationships/presProps" Target="/ppt/presProps.xml" Id="Rbf76c3cc482343d8" /><Relationship Type="http://schemas.openxmlformats.org/officeDocument/2006/relationships/tableStyles" Target="/ppt/tableStyles.xml" Id="R6a6175dd685a4183" /><Relationship Type="http://schemas.openxmlformats.org/officeDocument/2006/relationships/slide" Target="/ppt/slides/slide1.xml" Id="Rcedf62d8f0864209" /><Relationship Type="http://schemas.openxmlformats.org/officeDocument/2006/relationships/slide" Target="/ppt/slides/slide2.xml" Id="Rcedc1df7f800477b" /><Relationship Type="http://schemas.openxmlformats.org/officeDocument/2006/relationships/slide" Target="/ppt/slides/slide3.xml" Id="Rdc5f784f03d140d7" /><Relationship Type="http://schemas.openxmlformats.org/officeDocument/2006/relationships/slide" Target="/ppt/slides/slide4.xml" Id="R9d069490004f48a2" /><Relationship Type="http://schemas.openxmlformats.org/officeDocument/2006/relationships/slide" Target="/ppt/slides/slide5.xml" Id="R3ab90eed79fa4aa5" /><Relationship Type="http://schemas.openxmlformats.org/officeDocument/2006/relationships/slide" Target="/ppt/slides/slide6.xml" Id="Rcc679e77c331460a" /><Relationship Type="http://schemas.openxmlformats.org/officeDocument/2006/relationships/slide" Target="/ppt/slides/slide7.xml" Id="R7b7e7641ae8b4966" /><Relationship Type="http://schemas.openxmlformats.org/officeDocument/2006/relationships/slide" Target="/ppt/slides/slide8.xml" Id="R6cda0771ea8c4108" /><Relationship Type="http://schemas.openxmlformats.org/officeDocument/2006/relationships/slide" Target="/ppt/slides/slide9.xml" Id="R22def5dcad734585" /><Relationship Type="http://schemas.openxmlformats.org/officeDocument/2006/relationships/slide" Target="/ppt/slides/slide10.xml" Id="R6bb2160d37de49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af01c680374d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72b23fccab4287" /><Relationship Type="http://schemas.openxmlformats.org/officeDocument/2006/relationships/notesMaster" Target="/ppt/notesMasters/notesMaster1.xml" Id="R4ca8bec85a3c46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14ff1e3c6145c9" /><Relationship Type="http://schemas.openxmlformats.org/officeDocument/2006/relationships/notesMaster" Target="/ppt/notesMasters/notesMaster1.xml" Id="Rc949572ddd524df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382eaa353742ed" /><Relationship Type="http://schemas.openxmlformats.org/officeDocument/2006/relationships/notesMaster" Target="/ppt/notesMasters/notesMaster1.xml" Id="R9afb00ef49184c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337d547a314266" /><Relationship Type="http://schemas.openxmlformats.org/officeDocument/2006/relationships/notesMaster" Target="/ppt/notesMasters/notesMaster1.xml" Id="R634c45e56f0242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343ef277984e31" /><Relationship Type="http://schemas.openxmlformats.org/officeDocument/2006/relationships/notesMaster" Target="/ppt/notesMasters/notesMaster1.xml" Id="Rf9ec1048f65946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6222ff35c34300" /><Relationship Type="http://schemas.openxmlformats.org/officeDocument/2006/relationships/notesMaster" Target="/ppt/notesMasters/notesMaster1.xml" Id="R7148cec5e2dc43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4773aa1b7f401a" /><Relationship Type="http://schemas.openxmlformats.org/officeDocument/2006/relationships/notesMaster" Target="/ppt/notesMasters/notesMaster1.xml" Id="Reac2df000417434c"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61817b00df4ea3" /><Relationship Type="http://schemas.openxmlformats.org/officeDocument/2006/relationships/notesMaster" Target="/ppt/notesMasters/notesMaster1.xml" Id="Rf5f71ccea0a3432a" /></Relationships>
</file>

<file path=ppt/notesSlides/_rels/notesSlide9.xml.rels>&#65279;<?xml version="1.0" encoding="utf-8"?><Relationships xmlns="http://schemas.openxmlformats.org/package/2006/relationships"><Relationship Type="http://schemas.openxmlformats.org/officeDocument/2006/relationships/slide" Target="/ppt/slides/slide9.xml" Id="R6274bfa905084681" /><Relationship Type="http://schemas.openxmlformats.org/officeDocument/2006/relationships/notesMaster" Target="/ppt/notesMasters/notesMaster1.xml" Id="R24d43eeafc464d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93b935c9f6245f6" /><Relationship Type="http://schemas.openxmlformats.org/officeDocument/2006/relationships/notesMaster" Target="/ppt/notesMasters/notesMaster1.xml" Id="R0a3b40ae9dd642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45 saniye. Semantik segmentasyonun her piksele bir sınıf atadığını açıklayın. Araştırmanın amacı tüm görüntüyü yoğun biçimde işlemeye alternatif olarak belirsiz bölgeleri seçmektir. DINOv3 yeniden eğitilmedi, yalnızca segmentation head gözetimli eğitildi. Kaynak: https://arxiv.org/abs/2508.10104 ve https://github.com/facebookresearch/dinov3</a:t>
            </a:r>
          </a:p>
          <a:p xmlns:a="http://schemas.openxmlformats.org/drawingml/2006/main">
            <a:r>
              <a:t/>
            </a:r>
          </a:p>
          <a:p xmlns:a="http://schemas.openxmlformats.org/drawingml/2006/main">
            <a:r>
              <a:t>Deney kaynağı: Docs/DINOv3_Final_Deney_Raporu_TR.md ve Docs/DINOv3_Tez_Yontem_ve_Sonuclar_Taslagi_TR.md. Sonuçlar bu proje deneylerine aittir.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60 saniye. Tek global geçiş, küçük yapılar ve sınırlar için sınırlı temsil sağlar. Sliding-window birçok crop ile görüntünün tamamını işler. Biz sınırlı crop bütçesini belirsizlik sinyaliyle yönlendiriyoruz. Araştırma sorusu hem eş bütçeli random karşılaştırması hem yoğun işleme karşısındaki maliyet dengesidir.</a:t>
            </a:r>
          </a:p>
          <a:p xmlns:a="http://schemas.openxmlformats.org/drawingml/2006/main">
            <a:r>
              <a:t/>
            </a:r>
          </a:p>
          <a:p xmlns:a="http://schemas.openxmlformats.org/drawingml/2006/main">
            <a:r>
              <a:t>Deney kaynağı: Docs/DINOv3_Final_Deney_Raporu_TR.md ve Docs/DINOv3_Tez_Yontem_ve_Sonuclar_Taslagi_TR.md. Sonuçlar bu proje deneylerine aittir.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90 saniye. Model ViT-S/16, 384 özellik ve dört register token kullanır. CLS ve register çıkarılınca 224 girişte 14×14 grid elde edilir. Head 21 kanallı 1×1 convolutiondur. Entropy softmax üzerinden log(21) ile normalize edilir. 25 adayın ortalama entropy skoru kullanılır. Kutular orijinal RGB görüntüye taşınır. Crop tekrar 224 yapılır ve aynı model çalışır. Yerel logits orijinal boyuta döner, overlap alanında yerel logits ortalaması kullanılır. Crop dışı global logits korunur. GT seçim akışında kullanılmaz.</a:t>
            </a:r>
          </a:p>
          <a:p xmlns:a="http://schemas.openxmlformats.org/drawingml/2006/main">
            <a:r>
              <a:t/>
            </a:r>
          </a:p>
          <a:p xmlns:a="http://schemas.openxmlformats.org/drawingml/2006/main">
            <a:r>
              <a:t>Deney kaynağı: Docs/DINOv3_Final_Deney_Raporu_TR.md ve Docs/DINOv3_Tez_Yontem_ve_Sonuclar_Taslagi_TR.md. Sonuçlar bu proje deneylerine aittir.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75 saniye. VOC2012 20 nesne sınıfı ve background içerir. 1464 train ile head beş epoch eğitildi. Development 50 görüntü GT ile küçük hedef açısından seçildi ve bias içerir. Ana 1399, 1449 validation eksi developmenttır. Pilot100 bu1399 içindedir, daha önce incelendiğinden untouched test demiyoruz. Pooled confusion üzerinden 21 sınıf mIoU, native çözünürlük, ignore255. Random aynı grid NMS ve fusion, aynı geçiş sayısı, ancak crop birleşim alanı eşitlenmedi. Kaynak: https://www.robots.ox.ac.uk/~vgg/projects/pascal/VOC/voc2012/htmldoc/index.html</a:t>
            </a:r>
          </a:p>
          <a:p xmlns:a="http://schemas.openxmlformats.org/drawingml/2006/main">
            <a:r>
              <a:t/>
            </a:r>
          </a:p>
          <a:p xmlns:a="http://schemas.openxmlformats.org/drawingml/2006/main">
            <a:r>
              <a:t>Deney kaynağı: Docs/DINOv3_Final_Deney_Raporu_TR.md ve Docs/DINOv3_Tez_Yontem_ve_Sonuclar_Taslagi_TR.md. Sonuçlar bu proje deneylerine aittir.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65 saniye. 50 development görüntüsünde K1 adaptive crop, yaklaşık aynı alanlı random crop ile karşılaştırıldı. Hata coverage crop içindeki yanlış piksellerin tüm yanlış piksellere oranıdır. Density crop içindeki yanlışların crop valid piksellerine oranıdır. +16.97 puan coverage selectorın anlamlı sinyalini gösterir. Bu development kanıtıdır ve ikinci inference düzeltme garantisi vermez. Oracle GT kullanır ve değişken kutu alanları nedeniyle eş bütçeli kontrol veya kesin üst sınır değildir.</a:t>
            </a:r>
          </a:p>
          <a:p xmlns:a="http://schemas.openxmlformats.org/drawingml/2006/main">
            <a:r>
              <a:t/>
            </a:r>
          </a:p>
          <a:p xmlns:a="http://schemas.openxmlformats.org/drawingml/2006/main">
            <a:r>
              <a:t>Deney kaynağı: Docs/DINOv3_Final_Deney_Raporu_TR.md ve Docs/DINOv3_Tez_Yontem_ve_Sonuclar_Taslagi_TR.md. Sonuçlar bu proje deneylerine aittir.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90 saniye. Ana 1399 pooled değerleri: baseline0.7133, K10.7124, K30.7220, randomK3mean0.7140, sliding0.7325. Random ortalaması ensemble değil üç seed mIoU ortalamasıdır. Paired bootstrap5000 aynı görüntüleri yeniden örnekler. Baseline farkı güven aralığı sıfır içerir. Random farkı pozitif ve bu protokol için katkı desteklenir. Sliding doğrulukta üstündür. Seedler sabittir, aralık image uncertaintyyi temsil eder.</a:t>
            </a:r>
          </a:p>
          <a:p xmlns:a="http://schemas.openxmlformats.org/drawingml/2006/main">
            <a:r>
              <a:t/>
            </a:r>
          </a:p>
          <a:p xmlns:a="http://schemas.openxmlformats.org/drawingml/2006/main">
            <a:r>
              <a:t>Deney kaynağı: Docs/DINOv3_Final_Deney_Raporu_TR.md ve Docs/DINOv3_Tez_Yontem_ve_Sonuclar_Taslagi_TR.md. Sonuçlar bu proje deneylerine aittir.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75 saniye. En güncel aynı oturum yedi yöntem benchmarkından dört yöntem gösteriliyor. 100 görüntü kalitesi ana1399dan ayrı. RandomK3mean147.8ms, adaptive147.5ms, hız farkı belirgin değil. Süre preprocessing, forward, transfer, entropy, selector, resize, fusion, argmax dahil, disk decode ve metrics hariç. Sliding seri ve optimize edilmemiştir. Bootstrap oran ortalama sürelerin oranıdır. Aynısessionimagebelirsizliği, GPUoturumlararasıvaryasyon değil. Equalpeak98.3MB nedeniyle bellekavantajıiddiaedilmiyor.</a:t>
            </a:r>
          </a:p>
          <a:p xmlns:a="http://schemas.openxmlformats.org/drawingml/2006/main">
            <a:r>
              <a:t/>
            </a:r>
          </a:p>
          <a:p xmlns:a="http://schemas.openxmlformats.org/drawingml/2006/main">
            <a:r>
              <a:t>Deney kaynağı: Docs/DINOv3_Final_Deney_Raporu_TR.md ve Docs/DINOv3_Tez_Yontem_ve_Sonuclar_Taslagi_TR.md. Sonuçlar bu proje deneylerine aittir.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60 saniye. VOC index9 2007_000346. Ground truth, global prediction, entropy ve seçilmiş crop’ları gösterin. Yerel tahminlerin global koordinatlara birleşmesiyle şişe ve kişi sınırları bu örnekte iyileşiyor. Bu tekörnek genelperformanskanıtı değil. Kaynak görüntü: kullanıcının proje notebook çıktısı, Artifacts/Thesis_Figures/voc_index9_success_k3.png.</a:t>
            </a:r>
          </a:p>
          <a:p xmlns:a="http://schemas.openxmlformats.org/drawingml/2006/main">
            <a:r>
              <a:t/>
            </a:r>
          </a:p>
          <a:p xmlns:a="http://schemas.openxmlformats.org/drawingml/2006/main">
            <a:r>
              <a:t>Deney kaynağı: Docs/DINOv3_Final_Deney_Raporu_TR.md ve Docs/DINOv3_Tez_Yontem_ve_Sonuclar_Taslagi_TR.md. Sonuçlar bu proje deneylerine aittir.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65 saniye. Index10 crop’lar yüksek entropy sofa alanında yoğunlaşıyor. Yerel predictions sofa chair ve başka sınıf bölgelerini karıştırıyor. Fusion bu yerel hataları global tahmine taşıyor. K3 −14.50 puan. Context ve scale kaybı olası açıklamalar, izole nedenseldeneylekanıtlanmadı. Crop sınırları keskin geometrik geçişler oluşturabilir. Kaynak: kullanıcının notebook çıktısı, Artifacts/Thesis_Figures/voc_index10_failure_k3.png.</a:t>
            </a:r>
          </a:p>
          <a:p xmlns:a="http://schemas.openxmlformats.org/drawingml/2006/main">
            <a:r>
              <a:t/>
            </a:r>
          </a:p>
          <a:p xmlns:a="http://schemas.openxmlformats.org/drawingml/2006/main">
            <a:r>
              <a:t>Deney kaynağı: Docs/DINOv3_Final_Deney_Raporu_TR.md ve Docs/DINOv3_Tez_Yontem_ve_Sonuclar_Taslagi_TR.md. Sonuçlar bu proje deneylerine aittir.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75 saniye. Ana mesaj üç parçalı. Otomatik entropy selector ve second pass fusion uygulanmıştır. Aynıbütçeli random karşısında K3 katkısı desteklenir. Sliding daha doğru, adaptive daha hızlı. Baseline genel üstünlüğü içinCI0içerir. Yeni çalışmada kalitekapısı, bağlamkoruyanrefinement önerilebilir ancak tamamlanan proje içineyeni sonuç gibi sunulmaz. Resmî untouchedtest ve tekrarlıoturumsüreölçümü gelecektest. Toplam hedef10–12dakika.</a:t>
            </a:r>
          </a:p>
          <a:p xmlns:a="http://schemas.openxmlformats.org/drawingml/2006/main">
            <a:r>
              <a:t/>
            </a:r>
          </a:p>
          <a:p xmlns:a="http://schemas.openxmlformats.org/drawingml/2006/main">
            <a:r>
              <a:t>Deney kaynağı: Docs/DINOv3_Final_Deney_Raporu_TR.md ve Docs/DINOv3_Tez_Yontem_ve_Sonuclar_Taslagi_TR.md. Sonuçlar bu proje deneylerine aittir.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ff73bf907d44d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e7b778a4ffa4ea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655718cc2454bc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86bb48d083c48d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64858032710400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be7096a5ad841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C14694-196C-42E9-8A35-7D84579C66B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37581AA-9B30-4A80-A907-1E232EE9178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AC5B11C-BEE5-4C2F-90FA-CC4BB9DA206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ED8EF9-62C4-4F4D-AC35-F65E36A491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7BADBD7-19EF-4CEA-B6BE-BE613BC2AB9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5F21DD-E223-4EF6-8E9D-F235DDFAB5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67F6B73-6EDB-4EF1-A23A-25E894A2465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6E0C778-51AD-42AF-8F32-1D8205F7EC9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FD041-1556-49C6-870F-D89C849571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79C845B-2543-46E0-B987-CD55AB21CD8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3c138ea4194e5e" /><Relationship Type="http://schemas.openxmlformats.org/officeDocument/2006/relationships/slideLayout" Target="/ppt/slideLayouts/slideLayout1.xml" Id="R675834b4edc74276" /><Relationship Type="http://schemas.openxmlformats.org/officeDocument/2006/relationships/slideLayout" Target="/ppt/slideLayouts/slideLayout2.xml" Id="R5501726f55434941" /><Relationship Type="http://schemas.openxmlformats.org/officeDocument/2006/relationships/slideLayout" Target="/ppt/slideLayouts/slideLayout3.xml" Id="Re21cdadde18d44ce" /><Relationship Type="http://schemas.openxmlformats.org/officeDocument/2006/relationships/slideLayout" Target="/ppt/slideLayouts/slideLayout4.xml" Id="R0b569e9ec21f4ab5" /><Relationship Type="http://schemas.openxmlformats.org/officeDocument/2006/relationships/slideLayout" Target="/ppt/slideLayouts/slideLayout5.xml" Id="R910ec7a362c54758" /><Relationship Type="http://schemas.openxmlformats.org/officeDocument/2006/relationships/slideLayout" Target="/ppt/slideLayouts/slideLayout6.xml" Id="R8bf54adc4b224d9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75834b4edc74276"/>
    <p:sldLayoutId xmlns:r="http://schemas.openxmlformats.org/officeDocument/2006/relationships" id="2147483650" r:id="R5501726f55434941"/>
    <p:sldLayoutId xmlns:r="http://schemas.openxmlformats.org/officeDocument/2006/relationships" id="2147483651" r:id="Re21cdadde18d44ce"/>
    <p:sldLayoutId xmlns:r="http://schemas.openxmlformats.org/officeDocument/2006/relationships" id="2147483652" r:id="R0b569e9ec21f4ab5"/>
    <p:sldLayoutId xmlns:r="http://schemas.openxmlformats.org/officeDocument/2006/relationships" id="2147483653" r:id="R910ec7a362c54758"/>
    <p:sldLayoutId xmlns:r="http://schemas.openxmlformats.org/officeDocument/2006/relationships" id="2147483654" r:id="R8bf54adc4b224d9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fba45f81f274350" /><Relationship Type="http://schemas.openxmlformats.org/officeDocument/2006/relationships/notesSlide" Target="/ppt/notesSlides/notesSlide1.xml" Id="R13de4b11f57540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46ecaa3145a4357" /><Relationship Type="http://schemas.openxmlformats.org/officeDocument/2006/relationships/notesSlide" Target="/ppt/notesSlides/notesSlide2.xml" Id="R346b5f21423e4c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426fea238394242" /><Relationship Type="http://schemas.openxmlformats.org/officeDocument/2006/relationships/notesSlide" Target="/ppt/notesSlides/notesSlide3.xml" Id="Re7487102011744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82c3d4a68ad4b17" /><Relationship Type="http://schemas.openxmlformats.org/officeDocument/2006/relationships/notesSlide" Target="/ppt/notesSlides/notesSlide4.xml" Id="Raee1b7d0153d4a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363f339fdb4428a" /><Relationship Type="http://schemas.openxmlformats.org/officeDocument/2006/relationships/notesSlide" Target="/ppt/notesSlides/notesSlide5.xml" Id="R0a2cdef69cfb471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6ea52c4aebe4077" /><Relationship Type="http://schemas.openxmlformats.org/officeDocument/2006/relationships/notesSlide" Target="/ppt/notesSlides/notesSlide6.xml" Id="R3df92bd4af2045b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5951b0d98ce40e5" /><Relationship Type="http://schemas.openxmlformats.org/officeDocument/2006/relationships/notesSlide" Target="/ppt/notesSlides/notesSlide7.xml" Id="Rdde5d77509e944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f794f8de86c4469" /><Relationship Type="http://schemas.openxmlformats.org/officeDocument/2006/relationships/image" Target="/ppt/media/image.png" Id="R792d62e5b6074145" /><Relationship Type="http://schemas.openxmlformats.org/officeDocument/2006/relationships/notesSlide" Target="/ppt/notesSlides/notesSlide8.xml" Id="R0a5cbd488d9c41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ae08f16f1464356" /><Relationship Type="http://schemas.openxmlformats.org/officeDocument/2006/relationships/image" Target="/ppt/media/image2.png" Id="R7f9daed893534d0d" /><Relationship Type="http://schemas.openxmlformats.org/officeDocument/2006/relationships/notesSlide" Target="/ppt/notesSlides/notesSlide9.xml" Id="R94709124f43348d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b3f91ab7c1d4a88" /><Relationship Type="http://schemas.openxmlformats.org/officeDocument/2006/relationships/notesSlide" Target="/ppt/notesSlides/notesSlide10.xml" Id="R13b827015332498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43EABB9-9FAA-4D60-B855-EB9FDEA1B7F1}"/>
              </a:ext>
            </a:extLst>
          </p:cNvPr>
          <p:cNvSpPr>
            <a:spLocks xmlns:a="http://schemas.openxmlformats.org/drawingml/2006/main" noGrp="1"/>
          </p:cNvSpPr>
          <p:nvPr/>
        </p:nvSpPr>
        <p:spPr>
          <a:xfrm xmlns:a="http://schemas.openxmlformats.org/drawingml/2006/main">
            <a:off x="552450" y="361950"/>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348"/>
                </a:solidFill>
                <a:latin typeface="Arial"/>
                <a:ea typeface="Arial"/>
                <a:cs typeface="Arial"/>
              </a:defRPr>
            </a:defPPr>
          </a:lstStyle>
          <a:p xmlns:a="http://schemas.openxmlformats.org/drawingml/2006/main">
            <a:pPr>
              <a:defRPr sz="3300" b="1">
                <a:solidFill>
                  <a:srgbClr val="173348"/>
                </a:solidFill>
                <a:latin typeface="Arial"/>
                <a:ea typeface="Arial"/>
                <a:cs typeface="Arial"/>
              </a:defRPr>
            </a:pPr>
            <a:r>
              <a:rPr sz="3300" b="1">
                <a:solidFill>
                  <a:srgbClr val="173348"/>
                </a:solidFill>
                <a:latin typeface="Arial"/>
                <a:ea typeface="Arial"/>
                <a:cs typeface="Arial"/>
              </a:rPr>
              <a:t>DINOv3 ile uyarlanabilir yakınlaştırma</a:t>
            </a:r>
          </a:p>
        </p:txBody>
      </p:sp>
      <p:sp>
        <p:nvSpPr>
          <p:cNvPr id="2" name="">
            <a:extLst xmlns:a="http://schemas.openxmlformats.org/drawingml/2006/main">
              <a:ext uri="{FF2B5EF4-FFF2-40B4-BE49-F238E27FC236}">
                <a16:creationId xmlns:a16="http://schemas.microsoft.com/office/drawing/2014/main" id="{0ED3A462-BAAF-47B6-AC92-FEEB1561AAF9}"/>
              </a:ext>
            </a:extLst>
          </p:cNvPr>
          <p:cNvSpPr>
            <a:spLocks xmlns:a="http://schemas.openxmlformats.org/drawingml/2006/main" noGrp="1"/>
          </p:cNvSpPr>
          <p:nvPr/>
        </p:nvSpPr>
        <p:spPr>
          <a:xfrm xmlns:a="http://schemas.openxmlformats.org/drawingml/2006/main">
            <a:off x="11334750" y="64389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673"/>
                </a:solidFill>
                <a:latin typeface="Arial"/>
                <a:ea typeface="Arial"/>
                <a:cs typeface="Arial"/>
              </a:defRPr>
            </a:defPPr>
          </a:lstStyle>
          <a:p xmlns:a="http://schemas.openxmlformats.org/drawingml/2006/main">
            <a:pPr>
              <a:defRPr sz="1350" b="0">
                <a:solidFill>
                  <a:srgbClr val="536673"/>
                </a:solidFill>
                <a:latin typeface="Arial"/>
                <a:ea typeface="Arial"/>
                <a:cs typeface="Arial"/>
              </a:defRPr>
            </a:pPr>
            <a:r>
              <a:rPr sz="1350" b="0">
                <a:solidFill>
                  <a:srgbClr val="536673"/>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C403CD05-9BA1-407A-B95D-14381E5CFD05}"/>
              </a:ext>
            </a:extLst>
          </p:cNvPr>
          <p:cNvSpPr>
            <a:spLocks xmlns:a="http://schemas.openxmlformats.org/drawingml/2006/main" noGrp="1"/>
          </p:cNvSpPr>
          <p:nvPr/>
        </p:nvSpPr>
        <p:spPr>
          <a:xfrm xmlns:a="http://schemas.openxmlformats.org/drawingml/2006/main">
            <a:off x="552450" y="1714500"/>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173348"/>
                </a:solidFill>
                <a:latin typeface="Arial"/>
                <a:ea typeface="Arial"/>
                <a:cs typeface="Arial"/>
              </a:defRPr>
            </a:defPPr>
          </a:lstStyle>
          <a:p xmlns:a="http://schemas.openxmlformats.org/drawingml/2006/main">
            <a:pPr>
              <a:defRPr sz="4500" b="1">
                <a:solidFill>
                  <a:srgbClr val="173348"/>
                </a:solidFill>
                <a:latin typeface="Arial"/>
                <a:ea typeface="Arial"/>
                <a:cs typeface="Arial"/>
              </a:defRPr>
            </a:pPr>
            <a:r>
              <a:rPr sz="4500" b="1">
                <a:solidFill>
                  <a:srgbClr val="173348"/>
                </a:solidFill>
                <a:latin typeface="Arial"/>
                <a:ea typeface="Arial"/>
                <a:cs typeface="Arial"/>
              </a:rPr>
              <a:t>Belirsizlik ile bölge seçimi ve</a:t>
            </a:r>
          </a:p>
          <a:p xmlns:a="http://schemas.openxmlformats.org/drawingml/2006/main">
            <a:pPr>
              <a:defRPr sz="4500" b="1">
                <a:solidFill>
                  <a:srgbClr val="173348"/>
                </a:solidFill>
                <a:latin typeface="Arial"/>
                <a:ea typeface="Arial"/>
                <a:cs typeface="Arial"/>
              </a:defRPr>
            </a:pPr>
            <a:r>
              <a:rPr sz="4500" b="1">
                <a:solidFill>
                  <a:srgbClr val="173348"/>
                </a:solidFill>
                <a:latin typeface="Arial"/>
                <a:ea typeface="Arial"/>
                <a:cs typeface="Arial"/>
              </a:rPr>
              <a:t>semantik segmentasyon</a:t>
            </a:r>
          </a:p>
        </p:txBody>
      </p:sp>
      <p:sp>
        <p:nvSpPr>
          <p:cNvPr id="4" name="">
            <a:extLst xmlns:a="http://schemas.openxmlformats.org/drawingml/2006/main">
              <a:ext uri="{FF2B5EF4-FFF2-40B4-BE49-F238E27FC236}">
                <a16:creationId xmlns:a16="http://schemas.microsoft.com/office/drawing/2014/main" id="{15431DE8-E946-4913-B265-AF051810E6D5}"/>
              </a:ext>
            </a:extLst>
          </p:cNvPr>
          <p:cNvSpPr>
            <a:spLocks xmlns:a="http://schemas.openxmlformats.org/drawingml/2006/main" noGrp="1"/>
          </p:cNvSpPr>
          <p:nvPr/>
        </p:nvSpPr>
        <p:spPr>
          <a:xfrm xmlns:a="http://schemas.openxmlformats.org/drawingml/2006/main">
            <a:off x="552450" y="39528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536673"/>
                </a:solidFill>
                <a:latin typeface="Arial"/>
                <a:ea typeface="Arial"/>
                <a:cs typeface="Arial"/>
              </a:defRPr>
            </a:defPPr>
          </a:lstStyle>
          <a:p xmlns:a="http://schemas.openxmlformats.org/drawingml/2006/main">
            <a:pPr>
              <a:defRPr sz="2250" b="0">
                <a:solidFill>
                  <a:srgbClr val="536673"/>
                </a:solidFill>
                <a:latin typeface="Arial"/>
                <a:ea typeface="Arial"/>
                <a:cs typeface="Arial"/>
              </a:defRPr>
            </a:pPr>
            <a:r>
              <a:rPr sz="2250" b="0">
                <a:solidFill>
                  <a:srgbClr val="536673"/>
                </a:solidFill>
                <a:latin typeface="Arial"/>
                <a:ea typeface="Arial"/>
                <a:cs typeface="Arial"/>
              </a:rPr>
              <a:t>VOC2012 üzerinde doğruluk ve inference süresi değerlendirmesi</a:t>
            </a:r>
          </a:p>
        </p:txBody>
      </p:sp>
      <p:sp>
        <p:nvSpPr>
          <p:cNvPr id="5" name="">
            <a:extLst xmlns:a="http://schemas.openxmlformats.org/drawingml/2006/main">
              <a:ext uri="{FF2B5EF4-FFF2-40B4-BE49-F238E27FC236}">
                <a16:creationId xmlns:a16="http://schemas.microsoft.com/office/drawing/2014/main" id="{21DAC318-B05F-456E-82BC-4CDB59FD1A83}"/>
              </a:ext>
            </a:extLst>
          </p:cNvPr>
          <p:cNvSpPr>
            <a:spLocks xmlns:a="http://schemas.openxmlformats.org/drawingml/2006/main" noGrp="1"/>
          </p:cNvSpPr>
          <p:nvPr/>
        </p:nvSpPr>
        <p:spPr>
          <a:xfrm xmlns:a="http://schemas.openxmlformats.org/drawingml/2006/main">
            <a:off x="552450" y="55721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673"/>
                </a:solidFill>
                <a:latin typeface="Arial"/>
                <a:ea typeface="Arial"/>
                <a:cs typeface="Arial"/>
              </a:defRPr>
            </a:defPPr>
          </a:lstStyle>
          <a:p xmlns:a="http://schemas.openxmlformats.org/drawingml/2006/main">
            <a:pPr>
              <a:defRPr sz="1800" b="0">
                <a:solidFill>
                  <a:srgbClr val="536673"/>
                </a:solidFill>
                <a:latin typeface="Arial"/>
                <a:ea typeface="Arial"/>
                <a:cs typeface="Arial"/>
              </a:defRPr>
            </a:pPr>
            <a:r>
              <a:rPr sz="1800" b="0">
                <a:solidFill>
                  <a:srgbClr val="536673"/>
                </a:solidFill>
                <a:latin typeface="Arial"/>
                <a:ea typeface="Arial"/>
                <a:cs typeface="Arial"/>
              </a:rPr>
              <a:t>Bitirme projesi savunması  |  8 Ekim 2026</a:t>
            </a:r>
          </a:p>
        </p:txBody>
      </p:sp>
    </p:spTree>
    <p:extLst>
      <p:ext uri="{BB962C8B-B14F-4D97-AF65-F5344CB8AC3E}">
        <p14:creationId xmlns:p14="http://schemas.microsoft.com/office/powerpoint/2010/main" val="6711844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37ECB82-7FB4-47B6-B6ED-4C9C71C42678}"/>
              </a:ext>
            </a:extLst>
          </p:cNvPr>
          <p:cNvSpPr>
            <a:spLocks xmlns:a="http://schemas.openxmlformats.org/drawingml/2006/main" noGrp="1"/>
          </p:cNvSpPr>
          <p:nvPr/>
        </p:nvSpPr>
        <p:spPr>
          <a:xfrm xmlns:a="http://schemas.openxmlformats.org/drawingml/2006/main">
            <a:off x="552450" y="361950"/>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348"/>
                </a:solidFill>
                <a:latin typeface="Arial"/>
                <a:ea typeface="Arial"/>
                <a:cs typeface="Arial"/>
              </a:defRPr>
            </a:defPPr>
          </a:lstStyle>
          <a:p xmlns:a="http://schemas.openxmlformats.org/drawingml/2006/main">
            <a:pPr>
              <a:defRPr sz="3300" b="1">
                <a:solidFill>
                  <a:srgbClr val="173348"/>
                </a:solidFill>
                <a:latin typeface="Arial"/>
                <a:ea typeface="Arial"/>
                <a:cs typeface="Arial"/>
              </a:defRPr>
            </a:pPr>
            <a:r>
              <a:rPr sz="3300" b="1">
                <a:solidFill>
                  <a:srgbClr val="173348"/>
                </a:solidFill>
                <a:latin typeface="Arial"/>
                <a:ea typeface="Arial"/>
                <a:cs typeface="Arial"/>
              </a:rPr>
              <a:t>Araştırma sorusu</a:t>
            </a:r>
          </a:p>
        </p:txBody>
      </p:sp>
      <p:sp>
        <p:nvSpPr>
          <p:cNvPr id="2" name="">
            <a:extLst xmlns:a="http://schemas.openxmlformats.org/drawingml/2006/main">
              <a:ext uri="{FF2B5EF4-FFF2-40B4-BE49-F238E27FC236}">
                <a16:creationId xmlns:a16="http://schemas.microsoft.com/office/drawing/2014/main" id="{2DE4B8C9-362E-4852-9411-F0A0435ABA99}"/>
              </a:ext>
            </a:extLst>
          </p:cNvPr>
          <p:cNvSpPr>
            <a:spLocks xmlns:a="http://schemas.openxmlformats.org/drawingml/2006/main" noGrp="1"/>
          </p:cNvSpPr>
          <p:nvPr/>
        </p:nvSpPr>
        <p:spPr>
          <a:xfrm xmlns:a="http://schemas.openxmlformats.org/drawingml/2006/main">
            <a:off x="11334750" y="64389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673"/>
                </a:solidFill>
                <a:latin typeface="Arial"/>
                <a:ea typeface="Arial"/>
                <a:cs typeface="Arial"/>
              </a:defRPr>
            </a:defPPr>
          </a:lstStyle>
          <a:p xmlns:a="http://schemas.openxmlformats.org/drawingml/2006/main">
            <a:pPr>
              <a:defRPr sz="1350" b="0">
                <a:solidFill>
                  <a:srgbClr val="536673"/>
                </a:solidFill>
                <a:latin typeface="Arial"/>
                <a:ea typeface="Arial"/>
                <a:cs typeface="Arial"/>
              </a:defRPr>
            </a:pPr>
            <a:r>
              <a:rPr sz="1350" b="0">
                <a:solidFill>
                  <a:srgbClr val="536673"/>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7CAA19EC-8FC6-45AB-AD68-41899787DBE7}"/>
              </a:ext>
            </a:extLst>
          </p:cNvPr>
          <p:cNvSpPr>
            <a:spLocks xmlns:a="http://schemas.openxmlformats.org/drawingml/2006/main" noGrp="1"/>
          </p:cNvSpPr>
          <p:nvPr/>
        </p:nvSpPr>
        <p:spPr>
          <a:xfrm xmlns:a="http://schemas.openxmlformats.org/drawingml/2006/main">
            <a:off x="552450" y="1571625"/>
            <a:ext cx="10763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087F8C"/>
                </a:solidFill>
                <a:latin typeface="Arial"/>
                <a:ea typeface="Arial"/>
                <a:cs typeface="Arial"/>
              </a:defRPr>
            </a:defPPr>
          </a:lstStyle>
          <a:p xmlns:a="http://schemas.openxmlformats.org/drawingml/2006/main">
            <a:pPr>
              <a:defRPr sz="3000" b="1">
                <a:solidFill>
                  <a:srgbClr val="087F8C"/>
                </a:solidFill>
                <a:latin typeface="Arial"/>
                <a:ea typeface="Arial"/>
                <a:cs typeface="Arial"/>
              </a:defRPr>
            </a:pPr>
            <a:r>
              <a:rPr sz="3000" b="1">
                <a:solidFill>
                  <a:srgbClr val="087F8C"/>
                </a:solidFill>
                <a:latin typeface="Arial"/>
                <a:ea typeface="Arial"/>
                <a:cs typeface="Arial"/>
              </a:rPr>
              <a:t>Aynı crop bütçesinde entropy ile seçim,</a:t>
            </a:r>
          </a:p>
          <a:p xmlns:a="http://schemas.openxmlformats.org/drawingml/2006/main">
            <a:pPr>
              <a:defRPr sz="3000" b="1">
                <a:solidFill>
                  <a:srgbClr val="087F8C"/>
                </a:solidFill>
                <a:latin typeface="Arial"/>
                <a:ea typeface="Arial"/>
                <a:cs typeface="Arial"/>
              </a:defRPr>
            </a:pPr>
            <a:r>
              <a:rPr sz="3000" b="1">
                <a:solidFill>
                  <a:srgbClr val="087F8C"/>
                </a:solidFill>
                <a:latin typeface="Arial"/>
                <a:ea typeface="Arial"/>
                <a:cs typeface="Arial"/>
              </a:rPr>
              <a:t>rastgele seçimden daha yararlı olabilir mi?</a:t>
            </a:r>
          </a:p>
        </p:txBody>
      </p:sp>
      <p:sp>
        <p:nvSpPr>
          <p:cNvPr id="4" name="">
            <a:extLst xmlns:a="http://schemas.openxmlformats.org/drawingml/2006/main">
              <a:ext uri="{FF2B5EF4-FFF2-40B4-BE49-F238E27FC236}">
                <a16:creationId xmlns:a16="http://schemas.microsoft.com/office/drawing/2014/main" id="{D76DCA46-156F-41C1-8171-017B19FFE3EE}"/>
              </a:ext>
            </a:extLst>
          </p:cNvPr>
          <p:cNvSpPr>
            <a:spLocks xmlns:a="http://schemas.openxmlformats.org/drawingml/2006/main" noGrp="1"/>
          </p:cNvSpPr>
          <p:nvPr/>
        </p:nvSpPr>
        <p:spPr>
          <a:xfrm xmlns:a="http://schemas.openxmlformats.org/drawingml/2006/main">
            <a:off x="552450" y="3429000"/>
            <a:ext cx="10763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348"/>
                </a:solidFill>
                <a:latin typeface="Arial"/>
                <a:ea typeface="Arial"/>
                <a:cs typeface="Arial"/>
              </a:defRPr>
            </a:defPPr>
          </a:lstStyle>
          <a:p xmlns:a="http://schemas.openxmlformats.org/drawingml/2006/main">
            <a:pPr>
              <a:defRPr sz="2250" b="0">
                <a:solidFill>
                  <a:srgbClr val="173348"/>
                </a:solidFill>
                <a:latin typeface="Arial"/>
                <a:ea typeface="Arial"/>
                <a:cs typeface="Arial"/>
              </a:defRPr>
            </a:pPr>
            <a:r>
              <a:rPr sz="2250" b="0">
                <a:solidFill>
                  <a:srgbClr val="173348"/>
                </a:solidFill>
                <a:latin typeface="Arial"/>
                <a:ea typeface="Arial"/>
                <a:cs typeface="Arial"/>
              </a:rPr>
              <a:t>Global inference: bütün görüntü için tek geçiş</a:t>
            </a:r>
          </a:p>
          <a:p xmlns:a="http://schemas.openxmlformats.org/drawingml/2006/main">
            <a:pPr>
              <a:defRPr sz="2250" b="0">
                <a:solidFill>
                  <a:srgbClr val="173348"/>
                </a:solidFill>
                <a:latin typeface="Arial"/>
                <a:ea typeface="Arial"/>
                <a:cs typeface="Arial"/>
              </a:defRPr>
            </a:pPr>
            <a:r>
              <a:rPr sz="2250" b="0">
                <a:solidFill>
                  <a:srgbClr val="173348"/>
                </a:solidFill>
                <a:latin typeface="Arial"/>
                <a:ea typeface="Arial"/>
                <a:cs typeface="Arial"/>
              </a:rPr>
              <a:t>Adaptive zoom: global tahmin ve seçilmiş crop’lar</a:t>
            </a:r>
          </a:p>
          <a:p xmlns:a="http://schemas.openxmlformats.org/drawingml/2006/main">
            <a:pPr>
              <a:defRPr sz="2250" b="0">
                <a:solidFill>
                  <a:srgbClr val="173348"/>
                </a:solidFill>
                <a:latin typeface="Arial"/>
                <a:ea typeface="Arial"/>
                <a:cs typeface="Arial"/>
              </a:defRPr>
            </a:pPr>
            <a:r>
              <a:rPr sz="2250" b="0">
                <a:solidFill>
                  <a:srgbClr val="173348"/>
                </a:solidFill>
                <a:latin typeface="Arial"/>
                <a:ea typeface="Arial"/>
                <a:cs typeface="Arial"/>
              </a:rPr>
              <a:t>Sliding-window: bütün görüntüyü kapsayan 25 crop</a:t>
            </a:r>
          </a:p>
        </p:txBody>
      </p:sp>
      <p:sp>
        <p:nvSpPr>
          <p:cNvPr id="5" name="">
            <a:extLst xmlns:a="http://schemas.openxmlformats.org/drawingml/2006/main">
              <a:ext uri="{FF2B5EF4-FFF2-40B4-BE49-F238E27FC236}">
                <a16:creationId xmlns:a16="http://schemas.microsoft.com/office/drawing/2014/main" id="{B4E40249-E50B-4F3F-A02B-376A496AD6B2}"/>
              </a:ext>
            </a:extLst>
          </p:cNvPr>
          <p:cNvSpPr>
            <a:spLocks xmlns:a="http://schemas.openxmlformats.org/drawingml/2006/main" noGrp="1"/>
          </p:cNvSpPr>
          <p:nvPr/>
        </p:nvSpPr>
        <p:spPr>
          <a:xfrm xmlns:a="http://schemas.openxmlformats.org/drawingml/2006/main">
            <a:off x="552450" y="58102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36673"/>
                </a:solidFill>
                <a:latin typeface="Arial"/>
                <a:ea typeface="Arial"/>
                <a:cs typeface="Arial"/>
              </a:defRPr>
            </a:defPPr>
          </a:lstStyle>
          <a:p xmlns:a="http://schemas.openxmlformats.org/drawingml/2006/main">
            <a:pPr>
              <a:defRPr sz="1875" b="0">
                <a:solidFill>
                  <a:srgbClr val="536673"/>
                </a:solidFill>
                <a:latin typeface="Arial"/>
                <a:ea typeface="Arial"/>
                <a:cs typeface="Arial"/>
              </a:defRPr>
            </a:pPr>
            <a:r>
              <a:rPr sz="1875" b="0">
                <a:solidFill>
                  <a:srgbClr val="536673"/>
                </a:solidFill>
                <a:latin typeface="Arial"/>
                <a:ea typeface="Arial"/>
                <a:cs typeface="Arial"/>
              </a:rPr>
              <a:t>Katkı: mevcut DINOv3 özellikleriyle otomatik seçim ve ikinci geçiş.</a:t>
            </a:r>
          </a:p>
        </p:txBody>
      </p:sp>
    </p:spTree>
    <p:extLst>
      <p:ext uri="{BB962C8B-B14F-4D97-AF65-F5344CB8AC3E}">
        <p14:creationId xmlns:p14="http://schemas.microsoft.com/office/powerpoint/2010/main" val="14265980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762FAF3-3162-48DC-B2DA-AC835CA84607}"/>
              </a:ext>
            </a:extLst>
          </p:cNvPr>
          <p:cNvSpPr>
            <a:spLocks xmlns:a="http://schemas.openxmlformats.org/drawingml/2006/main" noGrp="1"/>
          </p:cNvSpPr>
          <p:nvPr/>
        </p:nvSpPr>
        <p:spPr>
          <a:xfrm xmlns:a="http://schemas.openxmlformats.org/drawingml/2006/main">
            <a:off x="552450" y="361950"/>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348"/>
                </a:solidFill>
                <a:latin typeface="Arial"/>
                <a:ea typeface="Arial"/>
                <a:cs typeface="Arial"/>
              </a:defRPr>
            </a:defPPr>
          </a:lstStyle>
          <a:p xmlns:a="http://schemas.openxmlformats.org/drawingml/2006/main">
            <a:pPr>
              <a:defRPr sz="3300" b="1">
                <a:solidFill>
                  <a:srgbClr val="173348"/>
                </a:solidFill>
                <a:latin typeface="Arial"/>
                <a:ea typeface="Arial"/>
                <a:cs typeface="Arial"/>
              </a:defRPr>
            </a:pPr>
            <a:r>
              <a:rPr sz="3300" b="1">
                <a:solidFill>
                  <a:srgbClr val="173348"/>
                </a:solidFill>
                <a:latin typeface="Arial"/>
                <a:ea typeface="Arial"/>
                <a:cs typeface="Arial"/>
              </a:rPr>
              <a:t>Otomatik işlem zinciri</a:t>
            </a:r>
          </a:p>
        </p:txBody>
      </p:sp>
      <p:sp>
        <p:nvSpPr>
          <p:cNvPr id="2" name="">
            <a:extLst xmlns:a="http://schemas.openxmlformats.org/drawingml/2006/main">
              <a:ext uri="{FF2B5EF4-FFF2-40B4-BE49-F238E27FC236}">
                <a16:creationId xmlns:a16="http://schemas.microsoft.com/office/drawing/2014/main" id="{F3376973-6E35-490C-9EE4-8685CA6E37C3}"/>
              </a:ext>
            </a:extLst>
          </p:cNvPr>
          <p:cNvSpPr>
            <a:spLocks xmlns:a="http://schemas.openxmlformats.org/drawingml/2006/main" noGrp="1"/>
          </p:cNvSpPr>
          <p:nvPr/>
        </p:nvSpPr>
        <p:spPr>
          <a:xfrm xmlns:a="http://schemas.openxmlformats.org/drawingml/2006/main">
            <a:off x="11334750" y="64389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673"/>
                </a:solidFill>
                <a:latin typeface="Arial"/>
                <a:ea typeface="Arial"/>
                <a:cs typeface="Arial"/>
              </a:defRPr>
            </a:defPPr>
          </a:lstStyle>
          <a:p xmlns:a="http://schemas.openxmlformats.org/drawingml/2006/main">
            <a:pPr>
              <a:defRPr sz="1350" b="0">
                <a:solidFill>
                  <a:srgbClr val="536673"/>
                </a:solidFill>
                <a:latin typeface="Arial"/>
                <a:ea typeface="Arial"/>
                <a:cs typeface="Arial"/>
              </a:defRPr>
            </a:pPr>
            <a:r>
              <a:rPr sz="1350" b="0">
                <a:solidFill>
                  <a:srgbClr val="536673"/>
                </a:solidFill>
                <a:latin typeface="Arial"/>
                <a:ea typeface="Arial"/>
                <a:cs typeface="Arial"/>
              </a:rPr>
              <a:t>3</a:t>
            </a:r>
          </a:p>
        </p:txBody>
      </p:sp>
      <p:sp>
        <p:nvSpPr>
          <p:cNvPr id="3" name="">
            <a:extLst xmlns:a="http://schemas.openxmlformats.org/drawingml/2006/main">
              <a:ext uri="{FF2B5EF4-FFF2-40B4-BE49-F238E27FC236}">
                <a16:creationId xmlns:a16="http://schemas.microsoft.com/office/drawing/2014/main" id="{352C3398-EBE2-4026-858D-7E92927132AF}"/>
              </a:ext>
            </a:extLst>
          </p:cNvPr>
          <p:cNvSpPr>
            <a:spLocks xmlns:a="http://schemas.openxmlformats.org/drawingml/2006/main" noGrp="1"/>
          </p:cNvSpPr>
          <p:nvPr/>
        </p:nvSpPr>
        <p:spPr>
          <a:xfrm xmlns:a="http://schemas.openxmlformats.org/drawingml/2006/main">
            <a:off x="552450" y="1428750"/>
            <a:ext cx="110871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87F8C"/>
                </a:solidFill>
                <a:latin typeface="Arial"/>
                <a:ea typeface="Arial"/>
                <a:cs typeface="Arial"/>
              </a:defRPr>
            </a:defPPr>
          </a:lstStyle>
          <a:p xmlns:a="http://schemas.openxmlformats.org/drawingml/2006/main">
            <a:pPr>
              <a:defRPr sz="2475" b="1">
                <a:solidFill>
                  <a:srgbClr val="087F8C"/>
                </a:solidFill>
                <a:latin typeface="Arial"/>
                <a:ea typeface="Arial"/>
                <a:cs typeface="Arial"/>
              </a:defRPr>
            </a:pPr>
            <a:r>
              <a:rPr sz="2475" b="1">
                <a:solidFill>
                  <a:srgbClr val="087F8C"/>
                </a:solidFill>
                <a:latin typeface="Arial"/>
                <a:ea typeface="Arial"/>
                <a:cs typeface="Arial"/>
              </a:rPr>
              <a:t>Görüntü → global logits → entropy → Top-K crop</a:t>
            </a:r>
          </a:p>
          <a:p xmlns:a="http://schemas.openxmlformats.org/drawingml/2006/main">
            <a:pPr>
              <a:defRPr sz="2475" b="1">
                <a:solidFill>
                  <a:srgbClr val="087F8C"/>
                </a:solidFill>
                <a:latin typeface="Arial"/>
                <a:ea typeface="Arial"/>
                <a:cs typeface="Arial"/>
              </a:defRPr>
            </a:pPr>
            <a:r>
              <a:rPr sz="2475" b="1">
                <a:solidFill>
                  <a:srgbClr val="087F8C"/>
                </a:solidFill>
                <a:latin typeface="Arial"/>
                <a:ea typeface="Arial"/>
                <a:cs typeface="Arial"/>
              </a:rPr>
              <a:t>Crop inference → koordinat dönüşümü → fusion</a:t>
            </a:r>
          </a:p>
        </p:txBody>
      </p:sp>
      <p:sp>
        <p:nvSpPr>
          <p:cNvPr id="4" name="">
            <a:extLst xmlns:a="http://schemas.openxmlformats.org/drawingml/2006/main">
              <a:ext uri="{FF2B5EF4-FFF2-40B4-BE49-F238E27FC236}">
                <a16:creationId xmlns:a16="http://schemas.microsoft.com/office/drawing/2014/main" id="{36FF2304-DE20-4AB5-870B-B8883ED569E5}"/>
              </a:ext>
            </a:extLst>
          </p:cNvPr>
          <p:cNvSpPr>
            <a:spLocks xmlns:a="http://schemas.openxmlformats.org/drawingml/2006/main" noGrp="1"/>
          </p:cNvSpPr>
          <p:nvPr/>
        </p:nvSpPr>
        <p:spPr>
          <a:xfrm xmlns:a="http://schemas.openxmlformats.org/drawingml/2006/main">
            <a:off x="552450" y="3048000"/>
            <a:ext cx="11049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48"/>
                </a:solidFill>
                <a:latin typeface="Arial"/>
                <a:ea typeface="Arial"/>
                <a:cs typeface="Arial"/>
              </a:defRPr>
            </a:defPPr>
          </a:lstStyle>
          <a:p xmlns:a="http://schemas.openxmlformats.org/drawingml/2006/main">
            <a:pPr>
              <a:defRPr sz="2100" b="0">
                <a:solidFill>
                  <a:srgbClr val="173348"/>
                </a:solidFill>
                <a:latin typeface="Arial"/>
                <a:ea typeface="Arial"/>
                <a:cs typeface="Arial"/>
              </a:defRPr>
            </a:pPr>
            <a:r>
              <a:rPr sz="2100" b="0">
                <a:solidFill>
                  <a:srgbClr val="173348"/>
                </a:solidFill>
                <a:latin typeface="Arial"/>
                <a:ea typeface="Arial"/>
                <a:cs typeface="Arial"/>
              </a:rPr>
              <a:t>Sabit backbone + eğitilmiş 21 sınıflı head</a:t>
            </a:r>
          </a:p>
          <a:p xmlns:a="http://schemas.openxmlformats.org/drawingml/2006/main">
            <a:pPr>
              <a:defRPr sz="2100" b="0">
                <a:solidFill>
                  <a:srgbClr val="173348"/>
                </a:solidFill>
                <a:latin typeface="Arial"/>
                <a:ea typeface="Arial"/>
                <a:cs typeface="Arial"/>
              </a:defRPr>
            </a:pPr>
            <a:r>
              <a:rPr sz="2100" b="0">
                <a:solidFill>
                  <a:srgbClr val="173348"/>
                </a:solidFill>
                <a:latin typeface="Arial"/>
                <a:ea typeface="Arial"/>
                <a:cs typeface="Arial"/>
              </a:rPr>
              <a:t>224 × 224 giriş, 112 × 112 crop, 28 piksel stride</a:t>
            </a:r>
          </a:p>
          <a:p xmlns:a="http://schemas.openxmlformats.org/drawingml/2006/main">
            <a:pPr>
              <a:defRPr sz="2100" b="0">
                <a:solidFill>
                  <a:srgbClr val="173348"/>
                </a:solidFill>
                <a:latin typeface="Arial"/>
                <a:ea typeface="Arial"/>
                <a:cs typeface="Arial"/>
              </a:defRPr>
            </a:pPr>
            <a:r>
              <a:rPr sz="2100" b="0">
                <a:solidFill>
                  <a:srgbClr val="173348"/>
                </a:solidFill>
                <a:latin typeface="Arial"/>
                <a:ea typeface="Arial"/>
                <a:cs typeface="Arial"/>
              </a:rPr>
              <a:t>25 aday, K=3, kutu IoU eşiği 0,30</a:t>
            </a:r>
          </a:p>
          <a:p xmlns:a="http://schemas.openxmlformats.org/drawingml/2006/main">
            <a:pPr>
              <a:defRPr sz="2100" b="0">
                <a:solidFill>
                  <a:srgbClr val="173348"/>
                </a:solidFill>
                <a:latin typeface="Arial"/>
                <a:ea typeface="Arial"/>
                <a:cs typeface="Arial"/>
              </a:defRPr>
            </a:pPr>
            <a:r>
              <a:rPr sz="2100" b="0">
                <a:solidFill>
                  <a:srgbClr val="173348"/>
                </a:solidFill>
                <a:latin typeface="Arial"/>
                <a:ea typeface="Arial"/>
                <a:cs typeface="Arial"/>
              </a:rPr>
              <a:t>Çakışan crop’larda yerel logits ortalaması</a:t>
            </a:r>
          </a:p>
          <a:p xmlns:a="http://schemas.openxmlformats.org/drawingml/2006/main">
            <a:pPr>
              <a:defRPr sz="2100" b="0">
                <a:solidFill>
                  <a:srgbClr val="173348"/>
                </a:solidFill>
                <a:latin typeface="Arial"/>
                <a:ea typeface="Arial"/>
                <a:cs typeface="Arial"/>
              </a:defRPr>
            </a:pPr>
            <a:r>
              <a:rPr sz="2100" b="0">
                <a:solidFill>
                  <a:srgbClr val="173348"/>
                </a:solidFill>
                <a:latin typeface="Arial"/>
                <a:ea typeface="Arial"/>
                <a:cs typeface="Arial"/>
              </a:rPr>
              <a:t>Crop dışındaki tahmin global sonuç olarak korunur</a:t>
            </a:r>
          </a:p>
        </p:txBody>
      </p:sp>
      <p:sp>
        <p:nvSpPr>
          <p:cNvPr id="5" name="">
            <a:extLst xmlns:a="http://schemas.openxmlformats.org/drawingml/2006/main">
              <a:ext uri="{FF2B5EF4-FFF2-40B4-BE49-F238E27FC236}">
                <a16:creationId xmlns:a16="http://schemas.microsoft.com/office/drawing/2014/main" id="{FE75BBFC-EACC-47A4-8E84-2969D220E224}"/>
              </a:ext>
            </a:extLst>
          </p:cNvPr>
          <p:cNvSpPr>
            <a:spLocks xmlns:a="http://schemas.openxmlformats.org/drawingml/2006/main" noGrp="1"/>
          </p:cNvSpPr>
          <p:nvPr/>
        </p:nvSpPr>
        <p:spPr>
          <a:xfrm xmlns:a="http://schemas.openxmlformats.org/drawingml/2006/main">
            <a:off x="552450" y="585787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73348"/>
                </a:solidFill>
                <a:latin typeface="Arial"/>
                <a:ea typeface="Arial"/>
                <a:cs typeface="Arial"/>
              </a:defRPr>
            </a:defPPr>
          </a:lstStyle>
          <a:p xmlns:a="http://schemas.openxmlformats.org/drawingml/2006/main">
            <a:pPr>
              <a:defRPr sz="1875" b="1">
                <a:solidFill>
                  <a:srgbClr val="173348"/>
                </a:solidFill>
                <a:latin typeface="Arial"/>
                <a:ea typeface="Arial"/>
                <a:cs typeface="Arial"/>
              </a:defRPr>
            </a:pPr>
            <a:r>
              <a:rPr sz="1875" b="1">
                <a:solidFill>
                  <a:srgbClr val="173348"/>
                </a:solidFill>
                <a:latin typeface="Arial"/>
                <a:ea typeface="Arial"/>
                <a:cs typeface="Arial"/>
              </a:rPr>
              <a:t>Selector inference sırasında ground truth kullanmaz.</a:t>
            </a:r>
          </a:p>
        </p:txBody>
      </p:sp>
    </p:spTree>
    <p:extLst>
      <p:ext uri="{BB962C8B-B14F-4D97-AF65-F5344CB8AC3E}">
        <p14:creationId xmlns:p14="http://schemas.microsoft.com/office/powerpoint/2010/main" val="53641952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FA2D2A5-D447-44DC-B078-213D2D77E778}"/>
              </a:ext>
            </a:extLst>
          </p:cNvPr>
          <p:cNvSpPr>
            <a:spLocks xmlns:a="http://schemas.openxmlformats.org/drawingml/2006/main" noGrp="1"/>
          </p:cNvSpPr>
          <p:nvPr/>
        </p:nvSpPr>
        <p:spPr>
          <a:xfrm xmlns:a="http://schemas.openxmlformats.org/drawingml/2006/main">
            <a:off x="552450" y="361950"/>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348"/>
                </a:solidFill>
                <a:latin typeface="Arial"/>
                <a:ea typeface="Arial"/>
                <a:cs typeface="Arial"/>
              </a:defRPr>
            </a:defPPr>
          </a:lstStyle>
          <a:p xmlns:a="http://schemas.openxmlformats.org/drawingml/2006/main">
            <a:pPr>
              <a:defRPr sz="3300" b="1">
                <a:solidFill>
                  <a:srgbClr val="173348"/>
                </a:solidFill>
                <a:latin typeface="Arial"/>
                <a:ea typeface="Arial"/>
                <a:cs typeface="Arial"/>
              </a:defRPr>
            </a:pPr>
            <a:r>
              <a:rPr sz="3300" b="1">
                <a:solidFill>
                  <a:srgbClr val="173348"/>
                </a:solidFill>
                <a:latin typeface="Arial"/>
                <a:ea typeface="Arial"/>
                <a:cs typeface="Arial"/>
              </a:rPr>
              <a:t>Deney protokolü</a:t>
            </a:r>
          </a:p>
        </p:txBody>
      </p:sp>
      <p:sp>
        <p:nvSpPr>
          <p:cNvPr id="2" name="">
            <a:extLst xmlns:a="http://schemas.openxmlformats.org/drawingml/2006/main">
              <a:ext uri="{FF2B5EF4-FFF2-40B4-BE49-F238E27FC236}">
                <a16:creationId xmlns:a16="http://schemas.microsoft.com/office/drawing/2014/main" id="{77A0E4EB-DEA0-4A79-8399-662B6768A43B}"/>
              </a:ext>
            </a:extLst>
          </p:cNvPr>
          <p:cNvSpPr>
            <a:spLocks xmlns:a="http://schemas.openxmlformats.org/drawingml/2006/main" noGrp="1"/>
          </p:cNvSpPr>
          <p:nvPr/>
        </p:nvSpPr>
        <p:spPr>
          <a:xfrm xmlns:a="http://schemas.openxmlformats.org/drawingml/2006/main">
            <a:off x="11334750" y="64389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673"/>
                </a:solidFill>
                <a:latin typeface="Arial"/>
                <a:ea typeface="Arial"/>
                <a:cs typeface="Arial"/>
              </a:defRPr>
            </a:defPPr>
          </a:lstStyle>
          <a:p xmlns:a="http://schemas.openxmlformats.org/drawingml/2006/main">
            <a:pPr>
              <a:defRPr sz="1350" b="0">
                <a:solidFill>
                  <a:srgbClr val="536673"/>
                </a:solidFill>
                <a:latin typeface="Arial"/>
                <a:ea typeface="Arial"/>
                <a:cs typeface="Arial"/>
              </a:defRPr>
            </a:pPr>
            <a:r>
              <a:rPr sz="1350" b="0">
                <a:solidFill>
                  <a:srgbClr val="536673"/>
                </a:solidFill>
                <a:latin typeface="Arial"/>
                <a:ea typeface="Arial"/>
                <a:cs typeface="Arial"/>
              </a:rPr>
              <a:t>4</a:t>
            </a:r>
          </a:p>
        </p:txBody>
      </p:sp>
      <p:graphicFrame>
        <p:nvGraphicFramePr>
          <p:cNvPr id="3" name="">
            <a:extLst xmlns:a="http://schemas.openxmlformats.org/drawingml/2006/main">
              <a:ext uri="{FF2B5EF4-FFF2-40B4-BE49-F238E27FC236}">
                <a16:creationId xmlns:a16="http://schemas.microsoft.com/office/drawing/2014/main" id="{8E1AB2C4-87E1-419A-BF40-F268A4B61CD0}"/>
              </a:ext>
            </a:extLst>
          </p:cNvPr>
          <p:cNvGraphicFramePr/>
          <p:nvPr/>
        </p:nvGraphicFramePr>
        <p:xfrm>
          <a:off xmlns:a="http://schemas.openxmlformats.org/drawingml/2006/main" x="552450" y="1428750"/>
          <a:ext xmlns:a="http://schemas.openxmlformats.org/drawingml/2006/main" cx="11087100" cy="2762250"/>
        </p:xfrm>
        <a:graphic xmlns:a="http://schemas.openxmlformats.org/drawingml/2006/main">
          <a:graphicData uri="http://schemas.openxmlformats.org/drawingml/2006/table">
            <a:tbl>
              <a:tblPr/>
              <a:tblGrid>
                <a:gridCol w="3333750"/>
                <a:gridCol w="1619250"/>
                <a:gridCol w="6134100"/>
              </a:tblGrid>
              <a:tr h="552450">
                <a:tc>
                  <a:txBody>
                    <a:bodyPr/>
                    <a:lstStyle/>
                    <a:p>
                      <a:r>
                        <a:rPr sz="1875" b="1">
                          <a:solidFill>
                            <a:srgbClr val="FFFFFF"/>
                          </a:solidFill>
                          <a:latin typeface="Arial"/>
                          <a:ea typeface="Arial"/>
                          <a:cs typeface="Arial"/>
                        </a:rPr>
                        <a:t>Grup</a:t>
                      </a:r>
                    </a:p>
                  </a:txBody>
                  <a:tcPr marL="91440" marR="91440" marT="45720" marB="45720">
                    <a:solidFill>
                      <a:srgbClr val="173348"/>
                    </a:solidFill>
                  </a:tcPr>
                </a:tc>
                <a:tc>
                  <a:txBody>
                    <a:bodyPr/>
                    <a:lstStyle/>
                    <a:p>
                      <a:r>
                        <a:rPr sz="1875" b="1">
                          <a:solidFill>
                            <a:srgbClr val="FFFFFF"/>
                          </a:solidFill>
                          <a:latin typeface="Arial"/>
                          <a:ea typeface="Arial"/>
                          <a:cs typeface="Arial"/>
                        </a:rPr>
                        <a:t>Görüntü</a:t>
                      </a:r>
                    </a:p>
                  </a:txBody>
                  <a:tcPr marL="91440" marR="91440" marT="45720" marB="45720">
                    <a:solidFill>
                      <a:srgbClr val="173348"/>
                    </a:solidFill>
                  </a:tcPr>
                </a:tc>
                <a:tc>
                  <a:txBody>
                    <a:bodyPr/>
                    <a:lstStyle/>
                    <a:p>
                      <a:r>
                        <a:rPr sz="1875" b="1">
                          <a:solidFill>
                            <a:srgbClr val="FFFFFF"/>
                          </a:solidFill>
                          <a:latin typeface="Arial"/>
                          <a:ea typeface="Arial"/>
                          <a:cs typeface="Arial"/>
                        </a:rPr>
                        <a:t>Kullanım</a:t>
                      </a:r>
                    </a:p>
                  </a:txBody>
                  <a:tcPr marL="91440" marR="91440" marT="45720" marB="45720">
                    <a:solidFill>
                      <a:srgbClr val="173348"/>
                    </a:solidFill>
                  </a:tcPr>
                </a:tc>
              </a:tr>
              <a:tr h="552450">
                <a:tc>
                  <a:txBody>
                    <a:bodyPr/>
                    <a:lstStyle/>
                    <a:p>
                      <a:r>
                        <a:rPr sz="1875" b="0">
                          <a:solidFill>
                            <a:srgbClr val="173348"/>
                          </a:solidFill>
                          <a:latin typeface="Arial"/>
                          <a:ea typeface="Arial"/>
                          <a:cs typeface="Arial"/>
                        </a:rPr>
                        <a:t>Train</a:t>
                      </a:r>
                    </a:p>
                  </a:txBody>
                  <a:tcPr marL="91440" marR="91440" marT="45720" marB="45720">
                    <a:solidFill>
                      <a:srgbClr val="F0F6F8"/>
                    </a:solidFill>
                  </a:tcPr>
                </a:tc>
                <a:tc>
                  <a:txBody>
                    <a:bodyPr/>
                    <a:lstStyle/>
                    <a:p>
                      <a:r>
                        <a:rPr sz="1875" b="0">
                          <a:solidFill>
                            <a:srgbClr val="173348"/>
                          </a:solidFill>
                          <a:latin typeface="Arial"/>
                          <a:ea typeface="Arial"/>
                          <a:cs typeface="Arial"/>
                        </a:rPr>
                        <a:t>1.464</a:t>
                      </a:r>
                    </a:p>
                  </a:txBody>
                  <a:tcPr marL="91440" marR="91440" marT="45720" marB="45720">
                    <a:solidFill>
                      <a:srgbClr val="F0F6F8"/>
                    </a:solidFill>
                  </a:tcPr>
                </a:tc>
                <a:tc>
                  <a:txBody>
                    <a:bodyPr/>
                    <a:lstStyle/>
                    <a:p>
                      <a:r>
                        <a:rPr sz="1875" b="0">
                          <a:solidFill>
                            <a:srgbClr val="173348"/>
                          </a:solidFill>
                          <a:latin typeface="Arial"/>
                          <a:ea typeface="Arial"/>
                          <a:cs typeface="Arial"/>
                        </a:rPr>
                        <a:t>Head eğitimi, 5 epoch</a:t>
                      </a:r>
                    </a:p>
                  </a:txBody>
                  <a:tcPr marL="91440" marR="91440" marT="45720" marB="45720">
                    <a:solidFill>
                      <a:srgbClr val="F0F6F8"/>
                    </a:solidFill>
                  </a:tcPr>
                </a:tc>
              </a:tr>
              <a:tr h="552450">
                <a:tc>
                  <a:txBody>
                    <a:bodyPr/>
                    <a:lstStyle/>
                    <a:p>
                      <a:r>
                        <a:rPr sz="1875" b="0">
                          <a:solidFill>
                            <a:srgbClr val="173348"/>
                          </a:solidFill>
                          <a:latin typeface="Arial"/>
                          <a:ea typeface="Arial"/>
                          <a:cs typeface="Arial"/>
                        </a:rPr>
                        <a:t>Development</a:t>
                      </a:r>
                    </a:p>
                  </a:txBody>
                  <a:tcPr marL="91440" marR="91440" marT="45720" marB="45720">
                    <a:solidFill>
                      <a:srgbClr val="FFFFFF"/>
                    </a:solidFill>
                  </a:tcPr>
                </a:tc>
                <a:tc>
                  <a:txBody>
                    <a:bodyPr/>
                    <a:lstStyle/>
                    <a:p>
                      <a:r>
                        <a:rPr sz="1875" b="0">
                          <a:solidFill>
                            <a:srgbClr val="173348"/>
                          </a:solidFill>
                          <a:latin typeface="Arial"/>
                          <a:ea typeface="Arial"/>
                          <a:cs typeface="Arial"/>
                        </a:rPr>
                        <a:t>50</a:t>
                      </a:r>
                    </a:p>
                  </a:txBody>
                  <a:tcPr marL="91440" marR="91440" marT="45720" marB="45720">
                    <a:solidFill>
                      <a:srgbClr val="FFFFFF"/>
                    </a:solidFill>
                  </a:tcPr>
                </a:tc>
                <a:tc>
                  <a:txBody>
                    <a:bodyPr/>
                    <a:lstStyle/>
                    <a:p>
                      <a:r>
                        <a:rPr sz="1875" b="0">
                          <a:solidFill>
                            <a:srgbClr val="173348"/>
                          </a:solidFill>
                          <a:latin typeface="Arial"/>
                          <a:ea typeface="Arial"/>
                          <a:cs typeface="Arial"/>
                        </a:rPr>
                        <a:t>Konfigürasyon ve hata analizi</a:t>
                      </a:r>
                    </a:p>
                  </a:txBody>
                  <a:tcPr marL="91440" marR="91440" marT="45720" marB="45720">
                    <a:solidFill>
                      <a:srgbClr val="FFFFFF"/>
                    </a:solidFill>
                  </a:tcPr>
                </a:tc>
              </a:tr>
              <a:tr h="552450">
                <a:tc>
                  <a:txBody>
                    <a:bodyPr/>
                    <a:lstStyle/>
                    <a:p>
                      <a:r>
                        <a:rPr sz="1875" b="0">
                          <a:solidFill>
                            <a:srgbClr val="173348"/>
                          </a:solidFill>
                          <a:latin typeface="Arial"/>
                          <a:ea typeface="Arial"/>
                          <a:cs typeface="Arial"/>
                        </a:rPr>
                        <a:t>Ana değerlendirme</a:t>
                      </a:r>
                    </a:p>
                  </a:txBody>
                  <a:tcPr marL="91440" marR="91440" marT="45720" marB="45720">
                    <a:solidFill>
                      <a:srgbClr val="F0F6F8"/>
                    </a:solidFill>
                  </a:tcPr>
                </a:tc>
                <a:tc>
                  <a:txBody>
                    <a:bodyPr/>
                    <a:lstStyle/>
                    <a:p>
                      <a:r>
                        <a:rPr sz="1875" b="0">
                          <a:solidFill>
                            <a:srgbClr val="173348"/>
                          </a:solidFill>
                          <a:latin typeface="Arial"/>
                          <a:ea typeface="Arial"/>
                          <a:cs typeface="Arial"/>
                        </a:rPr>
                        <a:t>1.399</a:t>
                      </a:r>
                    </a:p>
                  </a:txBody>
                  <a:tcPr marL="91440" marR="91440" marT="45720" marB="45720">
                    <a:solidFill>
                      <a:srgbClr val="F0F6F8"/>
                    </a:solidFill>
                  </a:tcPr>
                </a:tc>
                <a:tc>
                  <a:txBody>
                    <a:bodyPr/>
                    <a:lstStyle/>
                    <a:p>
                      <a:r>
                        <a:rPr sz="1875" b="0">
                          <a:solidFill>
                            <a:srgbClr val="173348"/>
                          </a:solidFill>
                          <a:latin typeface="Arial"/>
                          <a:ea typeface="Arial"/>
                          <a:cs typeface="Arial"/>
                        </a:rPr>
                        <a:t>Sabit yöntemlerin karşılaştırması</a:t>
                      </a:r>
                    </a:p>
                  </a:txBody>
                  <a:tcPr marL="91440" marR="91440" marT="45720" marB="45720">
                    <a:solidFill>
                      <a:srgbClr val="F0F6F8"/>
                    </a:solidFill>
                  </a:tcPr>
                </a:tc>
              </a:tr>
              <a:tr h="552450">
                <a:tc>
                  <a:txBody>
                    <a:bodyPr/>
                    <a:lstStyle/>
                    <a:p>
                      <a:r>
                        <a:rPr sz="1875" b="0">
                          <a:solidFill>
                            <a:srgbClr val="173348"/>
                          </a:solidFill>
                          <a:latin typeface="Arial"/>
                          <a:ea typeface="Arial"/>
                          <a:cs typeface="Arial"/>
                        </a:rPr>
                        <a:t>Süre ölçümü</a:t>
                      </a:r>
                    </a:p>
                  </a:txBody>
                  <a:tcPr marL="91440" marR="91440" marT="45720" marB="45720">
                    <a:solidFill>
                      <a:srgbClr val="FFFFFF"/>
                    </a:solidFill>
                  </a:tcPr>
                </a:tc>
                <a:tc>
                  <a:txBody>
                    <a:bodyPr/>
                    <a:lstStyle/>
                    <a:p>
                      <a:r>
                        <a:rPr sz="1875" b="0">
                          <a:solidFill>
                            <a:srgbClr val="173348"/>
                          </a:solidFill>
                          <a:latin typeface="Arial"/>
                          <a:ea typeface="Arial"/>
                          <a:cs typeface="Arial"/>
                        </a:rPr>
                        <a:t>100</a:t>
                      </a:r>
                    </a:p>
                  </a:txBody>
                  <a:tcPr marL="91440" marR="91440" marT="45720" marB="45720">
                    <a:solidFill>
                      <a:srgbClr val="FFFFFF"/>
                    </a:solidFill>
                  </a:tcPr>
                </a:tc>
                <a:tc>
                  <a:txBody>
                    <a:bodyPr/>
                    <a:lstStyle/>
                    <a:p>
                      <a:r>
                        <a:rPr sz="1875" b="0">
                          <a:solidFill>
                            <a:srgbClr val="173348"/>
                          </a:solidFill>
                          <a:latin typeface="Arial"/>
                          <a:ea typeface="Arial"/>
                          <a:cs typeface="Arial"/>
                        </a:rPr>
                        <a:t>Aynı oturumda Tesla T4</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D79F9A1-1CA3-49F3-AC08-39608909EB2A}"/>
              </a:ext>
            </a:extLst>
          </p:cNvPr>
          <p:cNvSpPr>
            <a:spLocks xmlns:a="http://schemas.openxmlformats.org/drawingml/2006/main" noGrp="1"/>
          </p:cNvSpPr>
          <p:nvPr/>
        </p:nvSpPr>
        <p:spPr>
          <a:xfrm xmlns:a="http://schemas.openxmlformats.org/drawingml/2006/main">
            <a:off x="552450" y="4714875"/>
            <a:ext cx="110871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36673"/>
                </a:solidFill>
                <a:latin typeface="Arial"/>
                <a:ea typeface="Arial"/>
                <a:cs typeface="Arial"/>
              </a:defRPr>
            </a:defPPr>
          </a:lstStyle>
          <a:p xmlns:a="http://schemas.openxmlformats.org/drawingml/2006/main">
            <a:pPr>
              <a:defRPr sz="1875" b="0">
                <a:solidFill>
                  <a:srgbClr val="536673"/>
                </a:solidFill>
                <a:latin typeface="Arial"/>
                <a:ea typeface="Arial"/>
                <a:cs typeface="Arial"/>
              </a:defRPr>
            </a:pPr>
            <a:r>
              <a:rPr sz="1875" b="0">
                <a:solidFill>
                  <a:srgbClr val="536673"/>
                </a:solidFill>
                <a:latin typeface="Arial"/>
                <a:ea typeface="Arial"/>
                <a:cs typeface="Arial"/>
              </a:rPr>
              <a:t>Orijinal çözünürlükte pooled mIoU, background dahil, ignore=255.</a:t>
            </a:r>
          </a:p>
          <a:p xmlns:a="http://schemas.openxmlformats.org/drawingml/2006/main">
            <a:pPr>
              <a:defRPr sz="1875" b="0">
                <a:solidFill>
                  <a:srgbClr val="536673"/>
                </a:solidFill>
                <a:latin typeface="Arial"/>
                <a:ea typeface="Arial"/>
                <a:cs typeface="Arial"/>
              </a:defRPr>
            </a:pPr>
            <a:r>
              <a:rPr sz="1875" b="0">
                <a:solidFill>
                  <a:srgbClr val="536673"/>
                </a:solidFill>
                <a:latin typeface="Arial"/>
                <a:ea typeface="Arial"/>
                <a:cs typeface="Arial"/>
              </a:rPr>
              <a:t>100 görüntülük süre grubu, 1.399 görüntünün içinde yer alır.</a:t>
            </a:r>
          </a:p>
          <a:p xmlns:a="http://schemas.openxmlformats.org/drawingml/2006/main">
            <a:pPr>
              <a:defRPr sz="1875" b="0">
                <a:solidFill>
                  <a:srgbClr val="536673"/>
                </a:solidFill>
                <a:latin typeface="Arial"/>
                <a:ea typeface="Arial"/>
                <a:cs typeface="Arial"/>
              </a:defRPr>
            </a:pPr>
            <a:r>
              <a:rPr sz="1875" b="0">
                <a:solidFill>
                  <a:srgbClr val="536673"/>
                </a:solidFill>
                <a:latin typeface="Arial"/>
                <a:ea typeface="Arial"/>
                <a:cs typeface="Arial"/>
              </a:rPr>
              <a:t>Ana grup daha önce incelenmiş validation verisidir.</a:t>
            </a:r>
          </a:p>
        </p:txBody>
      </p:sp>
    </p:spTree>
    <p:extLst>
      <p:ext uri="{BB962C8B-B14F-4D97-AF65-F5344CB8AC3E}">
        <p14:creationId xmlns:p14="http://schemas.microsoft.com/office/powerpoint/2010/main" val="3472193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0D8640E-6D7D-4058-A0E3-7B783502596D}"/>
              </a:ext>
            </a:extLst>
          </p:cNvPr>
          <p:cNvSpPr>
            <a:spLocks xmlns:a="http://schemas.openxmlformats.org/drawingml/2006/main" noGrp="1"/>
          </p:cNvSpPr>
          <p:nvPr/>
        </p:nvSpPr>
        <p:spPr>
          <a:xfrm xmlns:a="http://schemas.openxmlformats.org/drawingml/2006/main">
            <a:off x="552450" y="361950"/>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348"/>
                </a:solidFill>
                <a:latin typeface="Arial"/>
                <a:ea typeface="Arial"/>
                <a:cs typeface="Arial"/>
              </a:defRPr>
            </a:defPPr>
          </a:lstStyle>
          <a:p xmlns:a="http://schemas.openxmlformats.org/drawingml/2006/main">
            <a:pPr>
              <a:defRPr sz="3300" b="1">
                <a:solidFill>
                  <a:srgbClr val="173348"/>
                </a:solidFill>
                <a:latin typeface="Arial"/>
                <a:ea typeface="Arial"/>
                <a:cs typeface="Arial"/>
              </a:defRPr>
            </a:pPr>
            <a:r>
              <a:rPr sz="3300" b="1">
                <a:solidFill>
                  <a:srgbClr val="173348"/>
                </a:solidFill>
                <a:latin typeface="Arial"/>
                <a:ea typeface="Arial"/>
                <a:cs typeface="Arial"/>
              </a:rPr>
              <a:t>Selector anlamlı bölgeler seçiyor</a:t>
            </a:r>
          </a:p>
        </p:txBody>
      </p:sp>
      <p:sp>
        <p:nvSpPr>
          <p:cNvPr id="2" name="">
            <a:extLst xmlns:a="http://schemas.openxmlformats.org/drawingml/2006/main">
              <a:ext uri="{FF2B5EF4-FFF2-40B4-BE49-F238E27FC236}">
                <a16:creationId xmlns:a16="http://schemas.microsoft.com/office/drawing/2014/main" id="{05C45E01-46DA-4AB7-8CB7-6652C1B99720}"/>
              </a:ext>
            </a:extLst>
          </p:cNvPr>
          <p:cNvSpPr>
            <a:spLocks xmlns:a="http://schemas.openxmlformats.org/drawingml/2006/main" noGrp="1"/>
          </p:cNvSpPr>
          <p:nvPr/>
        </p:nvSpPr>
        <p:spPr>
          <a:xfrm xmlns:a="http://schemas.openxmlformats.org/drawingml/2006/main">
            <a:off x="11334750" y="64389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673"/>
                </a:solidFill>
                <a:latin typeface="Arial"/>
                <a:ea typeface="Arial"/>
                <a:cs typeface="Arial"/>
              </a:defRPr>
            </a:defPPr>
          </a:lstStyle>
          <a:p xmlns:a="http://schemas.openxmlformats.org/drawingml/2006/main">
            <a:pPr>
              <a:defRPr sz="1350" b="0">
                <a:solidFill>
                  <a:srgbClr val="536673"/>
                </a:solidFill>
                <a:latin typeface="Arial"/>
                <a:ea typeface="Arial"/>
                <a:cs typeface="Arial"/>
              </a:defRPr>
            </a:pPr>
            <a:r>
              <a:rPr sz="1350" b="0">
                <a:solidFill>
                  <a:srgbClr val="536673"/>
                </a:solidFill>
                <a:latin typeface="Arial"/>
                <a:ea typeface="Arial"/>
                <a:cs typeface="Arial"/>
              </a:rPr>
              <a:t>5</a:t>
            </a:r>
          </a:p>
        </p:txBody>
      </p:sp>
      <p:graphicFrame>
        <p:nvGraphicFramePr>
          <p:cNvPr id="3" name="">
            <a:extLst xmlns:a="http://schemas.openxmlformats.org/drawingml/2006/main">
              <a:ext uri="{FF2B5EF4-FFF2-40B4-BE49-F238E27FC236}">
                <a16:creationId xmlns:a16="http://schemas.microsoft.com/office/drawing/2014/main" id="{5432CDFA-EDC6-41C0-AE87-6C3E317C317D}"/>
              </a:ext>
            </a:extLst>
          </p:cNvPr>
          <p:cNvGraphicFramePr/>
          <p:nvPr/>
        </p:nvGraphicFramePr>
        <p:xfrm>
          <a:off xmlns:a="http://schemas.openxmlformats.org/drawingml/2006/main" x="552450" y="1476375"/>
          <a:ext xmlns:a="http://schemas.openxmlformats.org/drawingml/2006/main" cx="11087100" cy="2428875"/>
        </p:xfrm>
        <a:graphic xmlns:a="http://schemas.openxmlformats.org/drawingml/2006/main">
          <a:graphicData uri="http://schemas.openxmlformats.org/drawingml/2006/table">
            <a:tbl>
              <a:tblPr/>
              <a:tblGrid>
                <a:gridCol w="5905500"/>
                <a:gridCol w="2590800"/>
                <a:gridCol w="2590800"/>
              </a:tblGrid>
              <a:tr h="607219">
                <a:tc>
                  <a:txBody>
                    <a:bodyPr/>
                    <a:lstStyle/>
                    <a:p>
                      <a:r>
                        <a:rPr sz="2025" b="1">
                          <a:solidFill>
                            <a:srgbClr val="FFFFFF"/>
                          </a:solidFill>
                          <a:latin typeface="Arial"/>
                          <a:ea typeface="Arial"/>
                          <a:cs typeface="Arial"/>
                        </a:rPr>
                        <a:t>K=1, development 50</a:t>
                      </a:r>
                    </a:p>
                  </a:txBody>
                  <a:tcPr marL="91440" marR="91440" marT="45720" marB="45720">
                    <a:solidFill>
                      <a:srgbClr val="173348"/>
                    </a:solidFill>
                  </a:tcPr>
                </a:tc>
                <a:tc>
                  <a:txBody>
                    <a:bodyPr/>
                    <a:lstStyle/>
                    <a:p>
                      <a:r>
                        <a:rPr sz="2025" b="1">
                          <a:solidFill>
                            <a:srgbClr val="FFFFFF"/>
                          </a:solidFill>
                          <a:latin typeface="Arial"/>
                          <a:ea typeface="Arial"/>
                          <a:cs typeface="Arial"/>
                        </a:rPr>
                        <a:t>Adaptive</a:t>
                      </a:r>
                    </a:p>
                  </a:txBody>
                  <a:tcPr marL="91440" marR="91440" marT="45720" marB="45720">
                    <a:solidFill>
                      <a:srgbClr val="173348"/>
                    </a:solidFill>
                  </a:tcPr>
                </a:tc>
                <a:tc>
                  <a:txBody>
                    <a:bodyPr/>
                    <a:lstStyle/>
                    <a:p>
                      <a:r>
                        <a:rPr sz="2025" b="1">
                          <a:solidFill>
                            <a:srgbClr val="FFFFFF"/>
                          </a:solidFill>
                          <a:latin typeface="Arial"/>
                          <a:ea typeface="Arial"/>
                          <a:cs typeface="Arial"/>
                        </a:rPr>
                        <a:t>Random ort.</a:t>
                      </a:r>
                    </a:p>
                  </a:txBody>
                  <a:tcPr marL="91440" marR="91440" marT="45720" marB="45720">
                    <a:solidFill>
                      <a:srgbClr val="173348"/>
                    </a:solidFill>
                  </a:tcPr>
                </a:tc>
              </a:tr>
              <a:tr h="607219">
                <a:tc>
                  <a:txBody>
                    <a:bodyPr/>
                    <a:lstStyle/>
                    <a:p>
                      <a:r>
                        <a:rPr sz="2025" b="0">
                          <a:solidFill>
                            <a:srgbClr val="173348"/>
                          </a:solidFill>
                          <a:latin typeface="Arial"/>
                          <a:ea typeface="Arial"/>
                          <a:cs typeface="Arial"/>
                        </a:rPr>
                        <a:t>Hata kapsama oranı</a:t>
                      </a:r>
                    </a:p>
                  </a:txBody>
                  <a:tcPr marL="91440" marR="91440" marT="45720" marB="45720">
                    <a:solidFill>
                      <a:srgbClr val="F0F6F8"/>
                    </a:solidFill>
                  </a:tcPr>
                </a:tc>
                <a:tc>
                  <a:txBody>
                    <a:bodyPr/>
                    <a:lstStyle/>
                    <a:p>
                      <a:r>
                        <a:rPr sz="2025" b="0">
                          <a:solidFill>
                            <a:srgbClr val="173348"/>
                          </a:solidFill>
                          <a:latin typeface="Arial"/>
                          <a:ea typeface="Arial"/>
                          <a:cs typeface="Arial"/>
                        </a:rPr>
                        <a:t>%45,87</a:t>
                      </a:r>
                    </a:p>
                  </a:txBody>
                  <a:tcPr marL="91440" marR="91440" marT="45720" marB="45720">
                    <a:solidFill>
                      <a:srgbClr val="F0F6F8"/>
                    </a:solidFill>
                  </a:tcPr>
                </a:tc>
                <a:tc>
                  <a:txBody>
                    <a:bodyPr/>
                    <a:lstStyle/>
                    <a:p>
                      <a:r>
                        <a:rPr sz="2025" b="0">
                          <a:solidFill>
                            <a:srgbClr val="173348"/>
                          </a:solidFill>
                          <a:latin typeface="Arial"/>
                          <a:ea typeface="Arial"/>
                          <a:cs typeface="Arial"/>
                        </a:rPr>
                        <a:t>%28,90</a:t>
                      </a:r>
                    </a:p>
                  </a:txBody>
                  <a:tcPr marL="91440" marR="91440" marT="45720" marB="45720">
                    <a:solidFill>
                      <a:srgbClr val="F0F6F8"/>
                    </a:solidFill>
                  </a:tcPr>
                </a:tc>
              </a:tr>
              <a:tr h="607219">
                <a:tc>
                  <a:txBody>
                    <a:bodyPr/>
                    <a:lstStyle/>
                    <a:p>
                      <a:r>
                        <a:rPr sz="2025" b="0">
                          <a:solidFill>
                            <a:srgbClr val="173348"/>
                          </a:solidFill>
                          <a:latin typeface="Arial"/>
                          <a:ea typeface="Arial"/>
                          <a:cs typeface="Arial"/>
                        </a:rPr>
                        <a:t>Crop içi hata yoğunluğu</a:t>
                      </a:r>
                    </a:p>
                  </a:txBody>
                  <a:tcPr marL="91440" marR="91440" marT="45720" marB="45720">
                    <a:solidFill>
                      <a:srgbClr val="FFFFFF"/>
                    </a:solidFill>
                  </a:tcPr>
                </a:tc>
                <a:tc>
                  <a:txBody>
                    <a:bodyPr/>
                    <a:lstStyle/>
                    <a:p>
                      <a:r>
                        <a:rPr sz="2025" b="0">
                          <a:solidFill>
                            <a:srgbClr val="173348"/>
                          </a:solidFill>
                          <a:latin typeface="Arial"/>
                          <a:ea typeface="Arial"/>
                          <a:cs typeface="Arial"/>
                        </a:rPr>
                        <a:t>%17,41</a:t>
                      </a:r>
                    </a:p>
                  </a:txBody>
                  <a:tcPr marL="91440" marR="91440" marT="45720" marB="45720">
                    <a:solidFill>
                      <a:srgbClr val="FFFFFF"/>
                    </a:solidFill>
                  </a:tcPr>
                </a:tc>
                <a:tc>
                  <a:txBody>
                    <a:bodyPr/>
                    <a:lstStyle/>
                    <a:p>
                      <a:r>
                        <a:rPr sz="2025" b="0">
                          <a:solidFill>
                            <a:srgbClr val="173348"/>
                          </a:solidFill>
                          <a:latin typeface="Arial"/>
                          <a:ea typeface="Arial"/>
                          <a:cs typeface="Arial"/>
                        </a:rPr>
                        <a:t>%10,63</a:t>
                      </a:r>
                    </a:p>
                  </a:txBody>
                  <a:tcPr marL="91440" marR="91440" marT="45720" marB="45720">
                    <a:solidFill>
                      <a:srgbClr val="FFFFFF"/>
                    </a:solidFill>
                  </a:tcPr>
                </a:tc>
              </a:tr>
              <a:tr h="607219">
                <a:tc>
                  <a:txBody>
                    <a:bodyPr/>
                    <a:lstStyle/>
                    <a:p>
                      <a:r>
                        <a:rPr sz="2025" b="0">
                          <a:solidFill>
                            <a:srgbClr val="173348"/>
                          </a:solidFill>
                          <a:latin typeface="Arial"/>
                          <a:ea typeface="Arial"/>
                          <a:cs typeface="Arial"/>
                        </a:rPr>
                        <a:t>Geçerli görüntü alanı</a:t>
                      </a:r>
                    </a:p>
                  </a:txBody>
                  <a:tcPr marL="91440" marR="91440" marT="45720" marB="45720">
                    <a:solidFill>
                      <a:srgbClr val="F0F6F8"/>
                    </a:solidFill>
                  </a:tcPr>
                </a:tc>
                <a:tc>
                  <a:txBody>
                    <a:bodyPr/>
                    <a:lstStyle/>
                    <a:p>
                      <a:r>
                        <a:rPr sz="2025" b="0">
                          <a:solidFill>
                            <a:srgbClr val="173348"/>
                          </a:solidFill>
                          <a:latin typeface="Arial"/>
                          <a:ea typeface="Arial"/>
                          <a:cs typeface="Arial"/>
                        </a:rPr>
                        <a:t>%24,25</a:t>
                      </a:r>
                    </a:p>
                  </a:txBody>
                  <a:tcPr marL="91440" marR="91440" marT="45720" marB="45720">
                    <a:solidFill>
                      <a:srgbClr val="F0F6F8"/>
                    </a:solidFill>
                  </a:tcPr>
                </a:tc>
                <a:tc>
                  <a:txBody>
                    <a:bodyPr/>
                    <a:lstStyle/>
                    <a:p>
                      <a:r>
                        <a:rPr sz="2025" b="0">
                          <a:solidFill>
                            <a:srgbClr val="173348"/>
                          </a:solidFill>
                          <a:latin typeface="Arial"/>
                          <a:ea typeface="Arial"/>
                          <a:cs typeface="Arial"/>
                        </a:rPr>
                        <a:t>%25,02</a:t>
                      </a:r>
                    </a:p>
                  </a:txBody>
                  <a:tcPr marL="91440" marR="91440" marT="45720" marB="45720">
                    <a:solidFill>
                      <a:srgbClr val="F0F6F8"/>
                    </a:solidFill>
                  </a:tcPr>
                </a:tc>
              </a:tr>
            </a:tbl>
          </a:graphicData>
        </a:graphic>
      </p:graphicFrame>
      <p:sp>
        <p:nvSpPr>
          <p:cNvPr id="4" name="">
            <a:extLst xmlns:a="http://schemas.openxmlformats.org/drawingml/2006/main">
              <a:ext uri="{FF2B5EF4-FFF2-40B4-BE49-F238E27FC236}">
                <a16:creationId xmlns:a16="http://schemas.microsoft.com/office/drawing/2014/main" id="{2EB86DAD-CDA0-40DC-9A20-3B6CCBB2887E}"/>
              </a:ext>
            </a:extLst>
          </p:cNvPr>
          <p:cNvSpPr>
            <a:spLocks xmlns:a="http://schemas.openxmlformats.org/drawingml/2006/main" noGrp="1"/>
          </p:cNvSpPr>
          <p:nvPr/>
        </p:nvSpPr>
        <p:spPr>
          <a:xfrm xmlns:a="http://schemas.openxmlformats.org/drawingml/2006/main">
            <a:off x="552450" y="4333875"/>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87F8C"/>
                </a:solidFill>
                <a:latin typeface="Arial"/>
                <a:ea typeface="Arial"/>
                <a:cs typeface="Arial"/>
              </a:defRPr>
            </a:defPPr>
          </a:lstStyle>
          <a:p xmlns:a="http://schemas.openxmlformats.org/drawingml/2006/main">
            <a:pPr>
              <a:defRPr sz="2700" b="1">
                <a:solidFill>
                  <a:srgbClr val="087F8C"/>
                </a:solidFill>
                <a:latin typeface="Arial"/>
                <a:ea typeface="Arial"/>
                <a:cs typeface="Arial"/>
              </a:defRPr>
            </a:pPr>
            <a:r>
              <a:rPr sz="2700" b="1">
                <a:solidFill>
                  <a:srgbClr val="087F8C"/>
                </a:solidFill>
                <a:latin typeface="Arial"/>
                <a:ea typeface="Arial"/>
                <a:cs typeface="Arial"/>
              </a:rPr>
              <a:t>Hata kapsama farkı: +16,97 yüzde puan</a:t>
            </a:r>
          </a:p>
        </p:txBody>
      </p:sp>
      <p:sp>
        <p:nvSpPr>
          <p:cNvPr id="5" name="">
            <a:extLst xmlns:a="http://schemas.openxmlformats.org/drawingml/2006/main">
              <a:ext uri="{FF2B5EF4-FFF2-40B4-BE49-F238E27FC236}">
                <a16:creationId xmlns:a16="http://schemas.microsoft.com/office/drawing/2014/main" id="{7C7DC32D-D9A3-4AC8-A670-2894F767C915}"/>
              </a:ext>
            </a:extLst>
          </p:cNvPr>
          <p:cNvSpPr>
            <a:spLocks xmlns:a="http://schemas.openxmlformats.org/drawingml/2006/main" noGrp="1"/>
          </p:cNvSpPr>
          <p:nvPr/>
        </p:nvSpPr>
        <p:spPr>
          <a:xfrm xmlns:a="http://schemas.openxmlformats.org/drawingml/2006/main">
            <a:off x="552450" y="5286375"/>
            <a:ext cx="1108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348"/>
                </a:solidFill>
                <a:latin typeface="Arial"/>
                <a:ea typeface="Arial"/>
                <a:cs typeface="Arial"/>
              </a:defRPr>
            </a:defPPr>
          </a:lstStyle>
          <a:p xmlns:a="http://schemas.openxmlformats.org/drawingml/2006/main">
            <a:pPr>
              <a:defRPr sz="2175" b="0">
                <a:solidFill>
                  <a:srgbClr val="173348"/>
                </a:solidFill>
                <a:latin typeface="Arial"/>
                <a:ea typeface="Arial"/>
                <a:cs typeface="Arial"/>
              </a:defRPr>
            </a:pPr>
            <a:r>
              <a:rPr sz="2175" b="0">
                <a:solidFill>
                  <a:srgbClr val="173348"/>
                </a:solidFill>
                <a:latin typeface="Arial"/>
                <a:ea typeface="Arial"/>
                <a:cs typeface="Arial"/>
              </a:rPr>
              <a:t>Yüksek entropy alanını bulmak,</a:t>
            </a:r>
          </a:p>
          <a:p xmlns:a="http://schemas.openxmlformats.org/drawingml/2006/main">
            <a:pPr>
              <a:defRPr sz="2175" b="0">
                <a:solidFill>
                  <a:srgbClr val="173348"/>
                </a:solidFill>
                <a:latin typeface="Arial"/>
                <a:ea typeface="Arial"/>
                <a:cs typeface="Arial"/>
              </a:defRPr>
            </a:pPr>
            <a:r>
              <a:rPr sz="2175" b="0">
                <a:solidFill>
                  <a:srgbClr val="173348"/>
                </a:solidFill>
                <a:latin typeface="Arial"/>
                <a:ea typeface="Arial"/>
                <a:cs typeface="Arial"/>
              </a:rPr>
              <a:t>second pass sonucunun iyileşmesini garanti etmez.</a:t>
            </a:r>
          </a:p>
        </p:txBody>
      </p:sp>
    </p:spTree>
    <p:extLst>
      <p:ext uri="{BB962C8B-B14F-4D97-AF65-F5344CB8AC3E}">
        <p14:creationId xmlns:p14="http://schemas.microsoft.com/office/powerpoint/2010/main" val="21860506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7198616-F47A-4ADA-A44B-CEF54406F356}"/>
              </a:ext>
            </a:extLst>
          </p:cNvPr>
          <p:cNvSpPr>
            <a:spLocks xmlns:a="http://schemas.openxmlformats.org/drawingml/2006/main" noGrp="1"/>
          </p:cNvSpPr>
          <p:nvPr/>
        </p:nvSpPr>
        <p:spPr>
          <a:xfrm xmlns:a="http://schemas.openxmlformats.org/drawingml/2006/main">
            <a:off x="552450" y="361950"/>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348"/>
                </a:solidFill>
                <a:latin typeface="Arial"/>
                <a:ea typeface="Arial"/>
                <a:cs typeface="Arial"/>
              </a:defRPr>
            </a:defPPr>
          </a:lstStyle>
          <a:p xmlns:a="http://schemas.openxmlformats.org/drawingml/2006/main">
            <a:pPr>
              <a:defRPr sz="3300" b="1">
                <a:solidFill>
                  <a:srgbClr val="173348"/>
                </a:solidFill>
                <a:latin typeface="Arial"/>
                <a:ea typeface="Arial"/>
                <a:cs typeface="Arial"/>
              </a:defRPr>
            </a:pPr>
            <a:r>
              <a:rPr sz="3300" b="1">
                <a:solidFill>
                  <a:srgbClr val="173348"/>
                </a:solidFill>
                <a:latin typeface="Arial"/>
                <a:ea typeface="Arial"/>
                <a:cs typeface="Arial"/>
              </a:rPr>
              <a:t>K=3, eş bütçeli random seçimi geçti</a:t>
            </a:r>
          </a:p>
        </p:txBody>
      </p:sp>
      <p:sp>
        <p:nvSpPr>
          <p:cNvPr id="2" name="">
            <a:extLst xmlns:a="http://schemas.openxmlformats.org/drawingml/2006/main">
              <a:ext uri="{FF2B5EF4-FFF2-40B4-BE49-F238E27FC236}">
                <a16:creationId xmlns:a16="http://schemas.microsoft.com/office/drawing/2014/main" id="{C5650D42-9F88-44AB-B2E8-F6BA88B3DD26}"/>
              </a:ext>
            </a:extLst>
          </p:cNvPr>
          <p:cNvSpPr>
            <a:spLocks xmlns:a="http://schemas.openxmlformats.org/drawingml/2006/main" noGrp="1"/>
          </p:cNvSpPr>
          <p:nvPr/>
        </p:nvSpPr>
        <p:spPr>
          <a:xfrm xmlns:a="http://schemas.openxmlformats.org/drawingml/2006/main">
            <a:off x="11334750" y="64389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673"/>
                </a:solidFill>
                <a:latin typeface="Arial"/>
                <a:ea typeface="Arial"/>
                <a:cs typeface="Arial"/>
              </a:defRPr>
            </a:defPPr>
          </a:lstStyle>
          <a:p xmlns:a="http://schemas.openxmlformats.org/drawingml/2006/main">
            <a:pPr>
              <a:defRPr sz="1350" b="0">
                <a:solidFill>
                  <a:srgbClr val="536673"/>
                </a:solidFill>
                <a:latin typeface="Arial"/>
                <a:ea typeface="Arial"/>
                <a:cs typeface="Arial"/>
              </a:defRPr>
            </a:pPr>
            <a:r>
              <a:rPr sz="1350" b="0">
                <a:solidFill>
                  <a:srgbClr val="536673"/>
                </a:solidFill>
                <a:latin typeface="Arial"/>
                <a:ea typeface="Arial"/>
                <a:cs typeface="Arial"/>
              </a:rPr>
              <a:t>6</a:t>
            </a:r>
          </a:p>
        </p:txBody>
      </p:sp>
      <p:sp>
        <p:nvSpPr>
          <p:cNvPr id="3" name="">
            <a:extLst xmlns:a="http://schemas.openxmlformats.org/drawingml/2006/main">
              <a:ext uri="{FF2B5EF4-FFF2-40B4-BE49-F238E27FC236}">
                <a16:creationId xmlns:a16="http://schemas.microsoft.com/office/drawing/2014/main" id="{EC3FD843-5E9F-4185-A99A-928BBD84A106}"/>
              </a:ext>
            </a:extLst>
          </p:cNvPr>
          <p:cNvSpPr>
            <a:spLocks xmlns:a="http://schemas.openxmlformats.org/drawingml/2006/main" noGrp="1"/>
          </p:cNvSpPr>
          <p:nvPr/>
        </p:nvSpPr>
        <p:spPr>
          <a:xfrm xmlns:a="http://schemas.openxmlformats.org/drawingml/2006/main">
            <a:off x="552450" y="1333500"/>
            <a:ext cx="110871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3348"/>
                </a:solidFill>
                <a:latin typeface="Arial"/>
                <a:ea typeface="Arial"/>
                <a:cs typeface="Arial"/>
              </a:defRPr>
            </a:defPPr>
          </a:lstStyle>
          <a:p xmlns:a="http://schemas.openxmlformats.org/drawingml/2006/main">
            <a:pPr>
              <a:defRPr sz="2025" b="1">
                <a:solidFill>
                  <a:srgbClr val="173348"/>
                </a:solidFill>
                <a:latin typeface="Arial"/>
                <a:ea typeface="Arial"/>
                <a:cs typeface="Arial"/>
              </a:defRPr>
            </a:pPr>
            <a:r>
              <a:rPr sz="2025" b="1">
                <a:solidFill>
                  <a:srgbClr val="173348"/>
                </a:solidFill>
                <a:latin typeface="Arial"/>
                <a:ea typeface="Arial"/>
                <a:cs typeface="Arial"/>
              </a:rPr>
              <a:t>1.399 görüntü pooled mIoU</a:t>
            </a:r>
          </a:p>
          <a:p xmlns:a="http://schemas.openxmlformats.org/drawingml/2006/main">
            <a:pPr>
              <a:defRPr sz="2025" b="1">
                <a:solidFill>
                  <a:srgbClr val="173348"/>
                </a:solidFill>
                <a:latin typeface="Arial"/>
                <a:ea typeface="Arial"/>
                <a:cs typeface="Arial"/>
              </a:defRPr>
            </a:pPr>
            <a:r>
              <a:rPr sz="2025" b="1">
                <a:solidFill>
                  <a:srgbClr val="173348"/>
                </a:solidFill>
                <a:latin typeface="Arial"/>
                <a:ea typeface="Arial"/>
                <a:cs typeface="Arial"/>
              </a:rPr>
              <a:t>Baseline 0,7133   K=3 0,7220   Random K=3 0,7140   Sliding 0,7325</a:t>
            </a:r>
          </a:p>
        </p:txBody>
      </p:sp>
      <p:graphicFrame>
        <p:nvGraphicFramePr>
          <p:cNvPr id="4" name="">
            <a:extLst xmlns:a="http://schemas.openxmlformats.org/drawingml/2006/main">
              <a:ext uri="{FF2B5EF4-FFF2-40B4-BE49-F238E27FC236}">
                <a16:creationId xmlns:a16="http://schemas.microsoft.com/office/drawing/2014/main" id="{602AD82F-73D8-4EC7-8F5A-D38EA02DDD32}"/>
              </a:ext>
            </a:extLst>
          </p:cNvPr>
          <p:cNvGraphicFramePr/>
          <p:nvPr/>
        </p:nvGraphicFramePr>
        <p:xfrm>
          <a:off xmlns:a="http://schemas.openxmlformats.org/drawingml/2006/main" x="552450" y="2571750"/>
          <a:ext xmlns:a="http://schemas.openxmlformats.org/drawingml/2006/main" cx="11087100" cy="2667000"/>
        </p:xfrm>
        <a:graphic xmlns:a="http://schemas.openxmlformats.org/drawingml/2006/main">
          <a:graphicData uri="http://schemas.openxmlformats.org/drawingml/2006/table">
            <a:tbl>
              <a:tblPr/>
              <a:tblGrid>
                <a:gridCol w="5334000"/>
                <a:gridCol w="2095500"/>
                <a:gridCol w="3657600"/>
              </a:tblGrid>
              <a:tr h="533400">
                <a:tc>
                  <a:txBody>
                    <a:bodyPr/>
                    <a:lstStyle/>
                    <a:p>
                      <a:r>
                        <a:rPr sz="1875" b="1">
                          <a:solidFill>
                            <a:srgbClr val="FFFFFF"/>
                          </a:solidFill>
                          <a:latin typeface="Arial"/>
                          <a:ea typeface="Arial"/>
                          <a:cs typeface="Arial"/>
                        </a:rPr>
                        <a:t>K=3 karşılaştırması</a:t>
                      </a:r>
                    </a:p>
                  </a:txBody>
                  <a:tcPr marL="91440" marR="91440" marT="45720" marB="45720">
                    <a:solidFill>
                      <a:srgbClr val="173348"/>
                    </a:solidFill>
                  </a:tcPr>
                </a:tc>
                <a:tc>
                  <a:txBody>
                    <a:bodyPr/>
                    <a:lstStyle/>
                    <a:p>
                      <a:r>
                        <a:rPr sz="1875" b="1">
                          <a:solidFill>
                            <a:srgbClr val="FFFFFF"/>
                          </a:solidFill>
                          <a:latin typeface="Arial"/>
                          <a:ea typeface="Arial"/>
                          <a:cs typeface="Arial"/>
                        </a:rPr>
                        <a:t>Fark (puan)</a:t>
                      </a:r>
                    </a:p>
                  </a:txBody>
                  <a:tcPr marL="91440" marR="91440" marT="45720" marB="45720">
                    <a:solidFill>
                      <a:srgbClr val="173348"/>
                    </a:solidFill>
                  </a:tcPr>
                </a:tc>
                <a:tc>
                  <a:txBody>
                    <a:bodyPr/>
                    <a:lstStyle/>
                    <a:p>
                      <a:r>
                        <a:rPr sz="1875" b="1">
                          <a:solidFill>
                            <a:srgbClr val="FFFFFF"/>
                          </a:solidFill>
                          <a:latin typeface="Arial"/>
                          <a:ea typeface="Arial"/>
                          <a:cs typeface="Arial"/>
                        </a:rPr>
                        <a:t>%95 güven aralığı</a:t>
                      </a:r>
                    </a:p>
                  </a:txBody>
                  <a:tcPr marL="91440" marR="91440" marT="45720" marB="45720">
                    <a:solidFill>
                      <a:srgbClr val="173348"/>
                    </a:solidFill>
                  </a:tcPr>
                </a:tc>
              </a:tr>
              <a:tr h="533400">
                <a:tc>
                  <a:txBody>
                    <a:bodyPr/>
                    <a:lstStyle/>
                    <a:p>
                      <a:r>
                        <a:rPr sz="1875" b="0">
                          <a:solidFill>
                            <a:srgbClr val="173348"/>
                          </a:solidFill>
                          <a:latin typeface="Arial"/>
                          <a:ea typeface="Arial"/>
                          <a:cs typeface="Arial"/>
                        </a:rPr>
                        <a:t>Baseline’a göre</a:t>
                      </a:r>
                    </a:p>
                  </a:txBody>
                  <a:tcPr marL="91440" marR="91440" marT="45720" marB="45720">
                    <a:solidFill>
                      <a:srgbClr val="F0F6F8"/>
                    </a:solidFill>
                  </a:tcPr>
                </a:tc>
                <a:tc>
                  <a:txBody>
                    <a:bodyPr/>
                    <a:lstStyle/>
                    <a:p>
                      <a:r>
                        <a:rPr sz="1875" b="0">
                          <a:solidFill>
                            <a:srgbClr val="173348"/>
                          </a:solidFill>
                          <a:latin typeface="Arial"/>
                          <a:ea typeface="Arial"/>
                          <a:cs typeface="Arial"/>
                        </a:rPr>
                        <a:t>+0,87</a:t>
                      </a:r>
                    </a:p>
                  </a:txBody>
                  <a:tcPr marL="91440" marR="91440" marT="45720" marB="45720">
                    <a:solidFill>
                      <a:srgbClr val="F0F6F8"/>
                    </a:solidFill>
                  </a:tcPr>
                </a:tc>
                <a:tc>
                  <a:txBody>
                    <a:bodyPr/>
                    <a:lstStyle/>
                    <a:p>
                      <a:r>
                        <a:rPr sz="1875" b="0">
                          <a:solidFill>
                            <a:srgbClr val="173348"/>
                          </a:solidFill>
                          <a:latin typeface="Arial"/>
                          <a:ea typeface="Arial"/>
                          <a:cs typeface="Arial"/>
                        </a:rPr>
                        <a:t>[−0,14, +1,96]</a:t>
                      </a:r>
                    </a:p>
                  </a:txBody>
                  <a:tcPr marL="91440" marR="91440" marT="45720" marB="45720">
                    <a:solidFill>
                      <a:srgbClr val="F0F6F8"/>
                    </a:solidFill>
                  </a:tcPr>
                </a:tc>
              </a:tr>
              <a:tr h="533400">
                <a:tc>
                  <a:txBody>
                    <a:bodyPr/>
                    <a:lstStyle/>
                    <a:p>
                      <a:r>
                        <a:rPr sz="1875" b="0">
                          <a:solidFill>
                            <a:srgbClr val="173348"/>
                          </a:solidFill>
                          <a:latin typeface="Arial"/>
                          <a:ea typeface="Arial"/>
                          <a:cs typeface="Arial"/>
                        </a:rPr>
                        <a:t>K=1’e göre</a:t>
                      </a:r>
                    </a:p>
                  </a:txBody>
                  <a:tcPr marL="91440" marR="91440" marT="45720" marB="45720">
                    <a:solidFill>
                      <a:srgbClr val="FFFFFF"/>
                    </a:solidFill>
                  </a:tcPr>
                </a:tc>
                <a:tc>
                  <a:txBody>
                    <a:bodyPr/>
                    <a:lstStyle/>
                    <a:p>
                      <a:r>
                        <a:rPr sz="1875" b="0">
                          <a:solidFill>
                            <a:srgbClr val="173348"/>
                          </a:solidFill>
                          <a:latin typeface="Arial"/>
                          <a:ea typeface="Arial"/>
                          <a:cs typeface="Arial"/>
                        </a:rPr>
                        <a:t>+0,96</a:t>
                      </a:r>
                    </a:p>
                  </a:txBody>
                  <a:tcPr marL="91440" marR="91440" marT="45720" marB="45720">
                    <a:solidFill>
                      <a:srgbClr val="FFFFFF"/>
                    </a:solidFill>
                  </a:tcPr>
                </a:tc>
                <a:tc>
                  <a:txBody>
                    <a:bodyPr/>
                    <a:lstStyle/>
                    <a:p>
                      <a:r>
                        <a:rPr sz="1875" b="0">
                          <a:solidFill>
                            <a:srgbClr val="173348"/>
                          </a:solidFill>
                          <a:latin typeface="Arial"/>
                          <a:ea typeface="Arial"/>
                          <a:cs typeface="Arial"/>
                        </a:rPr>
                        <a:t>[+0,35, +1,55]</a:t>
                      </a:r>
                    </a:p>
                  </a:txBody>
                  <a:tcPr marL="91440" marR="91440" marT="45720" marB="45720">
                    <a:solidFill>
                      <a:srgbClr val="FFFFFF"/>
                    </a:solidFill>
                  </a:tcPr>
                </a:tc>
              </a:tr>
              <a:tr h="533400">
                <a:tc>
                  <a:txBody>
                    <a:bodyPr/>
                    <a:lstStyle/>
                    <a:p>
                      <a:r>
                        <a:rPr sz="1875" b="0">
                          <a:solidFill>
                            <a:srgbClr val="173348"/>
                          </a:solidFill>
                          <a:latin typeface="Arial"/>
                          <a:ea typeface="Arial"/>
                          <a:cs typeface="Arial"/>
                        </a:rPr>
                        <a:t>Random K=3 ortalamasına göre</a:t>
                      </a:r>
                    </a:p>
                  </a:txBody>
                  <a:tcPr marL="91440" marR="91440" marT="45720" marB="45720">
                    <a:solidFill>
                      <a:srgbClr val="F0F6F8"/>
                    </a:solidFill>
                  </a:tcPr>
                </a:tc>
                <a:tc>
                  <a:txBody>
                    <a:bodyPr/>
                    <a:lstStyle/>
                    <a:p>
                      <a:r>
                        <a:rPr sz="1875" b="0">
                          <a:solidFill>
                            <a:srgbClr val="173348"/>
                          </a:solidFill>
                          <a:latin typeface="Arial"/>
                          <a:ea typeface="Arial"/>
                          <a:cs typeface="Arial"/>
                        </a:rPr>
                        <a:t>+0,80</a:t>
                      </a:r>
                    </a:p>
                  </a:txBody>
                  <a:tcPr marL="91440" marR="91440" marT="45720" marB="45720">
                    <a:solidFill>
                      <a:srgbClr val="F0F6F8"/>
                    </a:solidFill>
                  </a:tcPr>
                </a:tc>
                <a:tc>
                  <a:txBody>
                    <a:bodyPr/>
                    <a:lstStyle/>
                    <a:p>
                      <a:r>
                        <a:rPr sz="1875" b="0">
                          <a:solidFill>
                            <a:srgbClr val="173348"/>
                          </a:solidFill>
                          <a:latin typeface="Arial"/>
                          <a:ea typeface="Arial"/>
                          <a:cs typeface="Arial"/>
                        </a:rPr>
                        <a:t>[+0,29, +1,33]</a:t>
                      </a:r>
                    </a:p>
                  </a:txBody>
                  <a:tcPr marL="91440" marR="91440" marT="45720" marB="45720">
                    <a:solidFill>
                      <a:srgbClr val="F0F6F8"/>
                    </a:solidFill>
                  </a:tcPr>
                </a:tc>
              </a:tr>
              <a:tr h="533400">
                <a:tc>
                  <a:txBody>
                    <a:bodyPr/>
                    <a:lstStyle/>
                    <a:p>
                      <a:r>
                        <a:rPr sz="1875" b="0">
                          <a:solidFill>
                            <a:srgbClr val="173348"/>
                          </a:solidFill>
                          <a:latin typeface="Arial"/>
                          <a:ea typeface="Arial"/>
                          <a:cs typeface="Arial"/>
                        </a:rPr>
                        <a:t>Sliding’e göre</a:t>
                      </a:r>
                    </a:p>
                  </a:txBody>
                  <a:tcPr marL="91440" marR="91440" marT="45720" marB="45720">
                    <a:solidFill>
                      <a:srgbClr val="FFFFFF"/>
                    </a:solidFill>
                  </a:tcPr>
                </a:tc>
                <a:tc>
                  <a:txBody>
                    <a:bodyPr/>
                    <a:lstStyle/>
                    <a:p>
                      <a:r>
                        <a:rPr sz="1875" b="0">
                          <a:solidFill>
                            <a:srgbClr val="173348"/>
                          </a:solidFill>
                          <a:latin typeface="Arial"/>
                          <a:ea typeface="Arial"/>
                          <a:cs typeface="Arial"/>
                        </a:rPr>
                        <a:t>−1,05</a:t>
                      </a:r>
                    </a:p>
                  </a:txBody>
                  <a:tcPr marL="91440" marR="91440" marT="45720" marB="45720">
                    <a:solidFill>
                      <a:srgbClr val="FFFFFF"/>
                    </a:solidFill>
                  </a:tcPr>
                </a:tc>
                <a:tc>
                  <a:txBody>
                    <a:bodyPr/>
                    <a:lstStyle/>
                    <a:p>
                      <a:r>
                        <a:rPr sz="1875" b="0">
                          <a:solidFill>
                            <a:srgbClr val="173348"/>
                          </a:solidFill>
                          <a:latin typeface="Arial"/>
                          <a:ea typeface="Arial"/>
                          <a:cs typeface="Arial"/>
                        </a:rPr>
                        <a:t>[−1,51, −0,58]</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8401053-B8FA-4B5E-BB9B-DCE2000314E6}"/>
              </a:ext>
            </a:extLst>
          </p:cNvPr>
          <p:cNvSpPr>
            <a:spLocks xmlns:a="http://schemas.openxmlformats.org/drawingml/2006/main" noGrp="1"/>
          </p:cNvSpPr>
          <p:nvPr/>
        </p:nvSpPr>
        <p:spPr>
          <a:xfrm xmlns:a="http://schemas.openxmlformats.org/drawingml/2006/main">
            <a:off x="552450" y="5715000"/>
            <a:ext cx="11087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36673"/>
                </a:solidFill>
                <a:latin typeface="Arial"/>
                <a:ea typeface="Arial"/>
                <a:cs typeface="Arial"/>
              </a:defRPr>
            </a:defPPr>
          </a:lstStyle>
          <a:p xmlns:a="http://schemas.openxmlformats.org/drawingml/2006/main">
            <a:pPr>
              <a:defRPr sz="1950" b="0">
                <a:solidFill>
                  <a:srgbClr val="536673"/>
                </a:solidFill>
                <a:latin typeface="Arial"/>
                <a:ea typeface="Arial"/>
                <a:cs typeface="Arial"/>
              </a:defRPr>
            </a:pPr>
            <a:r>
              <a:rPr sz="1950" b="0">
                <a:solidFill>
                  <a:srgbClr val="536673"/>
                </a:solidFill>
                <a:latin typeface="Arial"/>
                <a:ea typeface="Arial"/>
                <a:cs typeface="Arial"/>
              </a:rPr>
              <a:t>Baseline’a üstünlük kesinleşmedi. Sliding daha yüksek doğruluk sağladı.</a:t>
            </a:r>
          </a:p>
        </p:txBody>
      </p:sp>
    </p:spTree>
    <p:extLst>
      <p:ext uri="{BB962C8B-B14F-4D97-AF65-F5344CB8AC3E}">
        <p14:creationId xmlns:p14="http://schemas.microsoft.com/office/powerpoint/2010/main" val="137176257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2E683B2-5CA5-4D5B-A4A1-DFE4391C2341}"/>
              </a:ext>
            </a:extLst>
          </p:cNvPr>
          <p:cNvSpPr>
            <a:spLocks xmlns:a="http://schemas.openxmlformats.org/drawingml/2006/main" noGrp="1"/>
          </p:cNvSpPr>
          <p:nvPr/>
        </p:nvSpPr>
        <p:spPr>
          <a:xfrm xmlns:a="http://schemas.openxmlformats.org/drawingml/2006/main">
            <a:off x="552450" y="361950"/>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348"/>
                </a:solidFill>
                <a:latin typeface="Arial"/>
                <a:ea typeface="Arial"/>
                <a:cs typeface="Arial"/>
              </a:defRPr>
            </a:defPPr>
          </a:lstStyle>
          <a:p xmlns:a="http://schemas.openxmlformats.org/drawingml/2006/main">
            <a:pPr>
              <a:defRPr sz="3300" b="1">
                <a:solidFill>
                  <a:srgbClr val="173348"/>
                </a:solidFill>
                <a:latin typeface="Arial"/>
                <a:ea typeface="Arial"/>
                <a:cs typeface="Arial"/>
              </a:defRPr>
            </a:pPr>
            <a:r>
              <a:rPr sz="3300" b="1">
                <a:solidFill>
                  <a:srgbClr val="173348"/>
                </a:solidFill>
                <a:latin typeface="Arial"/>
                <a:ea typeface="Arial"/>
                <a:cs typeface="Arial"/>
              </a:rPr>
              <a:t>K=3, sliding’den daha hızlı çalıştı</a:t>
            </a:r>
          </a:p>
        </p:txBody>
      </p:sp>
      <p:sp>
        <p:nvSpPr>
          <p:cNvPr id="2" name="">
            <a:extLst xmlns:a="http://schemas.openxmlformats.org/drawingml/2006/main">
              <a:ext uri="{FF2B5EF4-FFF2-40B4-BE49-F238E27FC236}">
                <a16:creationId xmlns:a16="http://schemas.microsoft.com/office/drawing/2014/main" id="{9DA345FA-BA60-4BAA-AC9E-E2431E336B5C}"/>
              </a:ext>
            </a:extLst>
          </p:cNvPr>
          <p:cNvSpPr>
            <a:spLocks xmlns:a="http://schemas.openxmlformats.org/drawingml/2006/main" noGrp="1"/>
          </p:cNvSpPr>
          <p:nvPr/>
        </p:nvSpPr>
        <p:spPr>
          <a:xfrm xmlns:a="http://schemas.openxmlformats.org/drawingml/2006/main">
            <a:off x="11334750" y="64389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673"/>
                </a:solidFill>
                <a:latin typeface="Arial"/>
                <a:ea typeface="Arial"/>
                <a:cs typeface="Arial"/>
              </a:defRPr>
            </a:defPPr>
          </a:lstStyle>
          <a:p xmlns:a="http://schemas.openxmlformats.org/drawingml/2006/main">
            <a:pPr>
              <a:defRPr sz="1350" b="0">
                <a:solidFill>
                  <a:srgbClr val="536673"/>
                </a:solidFill>
                <a:latin typeface="Arial"/>
                <a:ea typeface="Arial"/>
                <a:cs typeface="Arial"/>
              </a:defRPr>
            </a:pPr>
            <a:r>
              <a:rPr sz="1350" b="0">
                <a:solidFill>
                  <a:srgbClr val="536673"/>
                </a:solidFill>
                <a:latin typeface="Arial"/>
                <a:ea typeface="Arial"/>
                <a:cs typeface="Arial"/>
              </a:rPr>
              <a:t>7</a:t>
            </a:r>
          </a:p>
        </p:txBody>
      </p:sp>
      <p:graphicFrame>
        <p:nvGraphicFramePr>
          <p:cNvPr id="3" name="">
            <a:extLst xmlns:a="http://schemas.openxmlformats.org/drawingml/2006/main">
              <a:ext uri="{FF2B5EF4-FFF2-40B4-BE49-F238E27FC236}">
                <a16:creationId xmlns:a16="http://schemas.microsoft.com/office/drawing/2014/main" id="{7CCC6409-47A0-45EA-A91C-5D0D6AA8410B}"/>
              </a:ext>
            </a:extLst>
          </p:cNvPr>
          <p:cNvGraphicFramePr/>
          <p:nvPr/>
        </p:nvGraphicFramePr>
        <p:xfrm>
          <a:off xmlns:a="http://schemas.openxmlformats.org/drawingml/2006/main" x="552450" y="1428750"/>
          <a:ext xmlns:a="http://schemas.openxmlformats.org/drawingml/2006/main" cx="11087100" cy="2762250"/>
        </p:xfrm>
        <a:graphic xmlns:a="http://schemas.openxmlformats.org/drawingml/2006/main">
          <a:graphicData uri="http://schemas.openxmlformats.org/drawingml/2006/table">
            <a:tbl>
              <a:tblPr/>
              <a:tblGrid>
                <a:gridCol w="4286250"/>
                <a:gridCol w="2286000"/>
                <a:gridCol w="2286000"/>
                <a:gridCol w="2228850"/>
              </a:tblGrid>
              <a:tr h="552450">
                <a:tc>
                  <a:txBody>
                    <a:bodyPr/>
                    <a:lstStyle/>
                    <a:p>
                      <a:r>
                        <a:rPr sz="2025" b="1">
                          <a:solidFill>
                            <a:srgbClr val="FFFFFF"/>
                          </a:solidFill>
                          <a:latin typeface="Arial"/>
                          <a:ea typeface="Arial"/>
                          <a:cs typeface="Arial"/>
                        </a:rPr>
                        <a:t>Yöntem</a:t>
                      </a:r>
                    </a:p>
                  </a:txBody>
                  <a:tcPr marL="91440" marR="91440" marT="45720" marB="45720">
                    <a:solidFill>
                      <a:srgbClr val="173348"/>
                    </a:solidFill>
                  </a:tcPr>
                </a:tc>
                <a:tc>
                  <a:txBody>
                    <a:bodyPr/>
                    <a:lstStyle/>
                    <a:p>
                      <a:r>
                        <a:rPr sz="2025" b="1">
                          <a:solidFill>
                            <a:srgbClr val="FFFFFF"/>
                          </a:solidFill>
                          <a:latin typeface="Arial"/>
                          <a:ea typeface="Arial"/>
                          <a:cs typeface="Arial"/>
                        </a:rPr>
                        <a:t>Ort. süre</a:t>
                      </a:r>
                    </a:p>
                  </a:txBody>
                  <a:tcPr marL="91440" marR="91440" marT="45720" marB="45720">
                    <a:solidFill>
                      <a:srgbClr val="173348"/>
                    </a:solidFill>
                  </a:tcPr>
                </a:tc>
                <a:tc>
                  <a:txBody>
                    <a:bodyPr/>
                    <a:lstStyle/>
                    <a:p>
                      <a:r>
                        <a:rPr sz="2025" b="1">
                          <a:solidFill>
                            <a:srgbClr val="FFFFFF"/>
                          </a:solidFill>
                          <a:latin typeface="Arial"/>
                          <a:ea typeface="Arial"/>
                          <a:cs typeface="Arial"/>
                        </a:rPr>
                        <a:t>P95 süre</a:t>
                      </a:r>
                    </a:p>
                  </a:txBody>
                  <a:tcPr marL="91440" marR="91440" marT="45720" marB="45720">
                    <a:solidFill>
                      <a:srgbClr val="173348"/>
                    </a:solidFill>
                  </a:tcPr>
                </a:tc>
                <a:tc>
                  <a:txBody>
                    <a:bodyPr/>
                    <a:lstStyle/>
                    <a:p>
                      <a:r>
                        <a:rPr sz="2025" b="1">
                          <a:solidFill>
                            <a:srgbClr val="FFFFFF"/>
                          </a:solidFill>
                          <a:latin typeface="Arial"/>
                          <a:ea typeface="Arial"/>
                          <a:cs typeface="Arial"/>
                        </a:rPr>
                        <a:t>Geçiş</a:t>
                      </a:r>
                    </a:p>
                  </a:txBody>
                  <a:tcPr marL="91440" marR="91440" marT="45720" marB="45720">
                    <a:solidFill>
                      <a:srgbClr val="173348"/>
                    </a:solidFill>
                  </a:tcPr>
                </a:tc>
              </a:tr>
              <a:tr h="552450">
                <a:tc>
                  <a:txBody>
                    <a:bodyPr/>
                    <a:lstStyle/>
                    <a:p>
                      <a:r>
                        <a:rPr sz="2025" b="0">
                          <a:solidFill>
                            <a:srgbClr val="173348"/>
                          </a:solidFill>
                          <a:latin typeface="Arial"/>
                          <a:ea typeface="Arial"/>
                          <a:cs typeface="Arial"/>
                        </a:rPr>
                        <a:t>Baseline</a:t>
                      </a:r>
                    </a:p>
                  </a:txBody>
                  <a:tcPr marL="91440" marR="91440" marT="45720" marB="45720">
                    <a:solidFill>
                      <a:srgbClr val="F0F6F8"/>
                    </a:solidFill>
                  </a:tcPr>
                </a:tc>
                <a:tc>
                  <a:txBody>
                    <a:bodyPr/>
                    <a:lstStyle/>
                    <a:p>
                      <a:r>
                        <a:rPr sz="2025" b="0">
                          <a:solidFill>
                            <a:srgbClr val="173348"/>
                          </a:solidFill>
                          <a:latin typeface="Arial"/>
                          <a:ea typeface="Arial"/>
                          <a:cs typeface="Arial"/>
                        </a:rPr>
                        <a:t>79,2 ms</a:t>
                      </a:r>
                    </a:p>
                  </a:txBody>
                  <a:tcPr marL="91440" marR="91440" marT="45720" marB="45720">
                    <a:solidFill>
                      <a:srgbClr val="F0F6F8"/>
                    </a:solidFill>
                  </a:tcPr>
                </a:tc>
                <a:tc>
                  <a:txBody>
                    <a:bodyPr/>
                    <a:lstStyle/>
                    <a:p>
                      <a:r>
                        <a:rPr sz="2025" b="0">
                          <a:solidFill>
                            <a:srgbClr val="173348"/>
                          </a:solidFill>
                          <a:latin typeface="Arial"/>
                          <a:ea typeface="Arial"/>
                          <a:cs typeface="Arial"/>
                        </a:rPr>
                        <a:t>127,6 ms</a:t>
                      </a:r>
                    </a:p>
                  </a:txBody>
                  <a:tcPr marL="91440" marR="91440" marT="45720" marB="45720">
                    <a:solidFill>
                      <a:srgbClr val="F0F6F8"/>
                    </a:solidFill>
                  </a:tcPr>
                </a:tc>
                <a:tc>
                  <a:txBody>
                    <a:bodyPr/>
                    <a:lstStyle/>
                    <a:p>
                      <a:r>
                        <a:rPr sz="2025" b="0">
                          <a:solidFill>
                            <a:srgbClr val="173348"/>
                          </a:solidFill>
                          <a:latin typeface="Arial"/>
                          <a:ea typeface="Arial"/>
                          <a:cs typeface="Arial"/>
                        </a:rPr>
                        <a:t>1</a:t>
                      </a:r>
                    </a:p>
                  </a:txBody>
                  <a:tcPr marL="91440" marR="91440" marT="45720" marB="45720">
                    <a:solidFill>
                      <a:srgbClr val="F0F6F8"/>
                    </a:solidFill>
                  </a:tcPr>
                </a:tc>
              </a:tr>
              <a:tr h="552450">
                <a:tc>
                  <a:txBody>
                    <a:bodyPr/>
                    <a:lstStyle/>
                    <a:p>
                      <a:r>
                        <a:rPr sz="2025" b="0">
                          <a:solidFill>
                            <a:srgbClr val="173348"/>
                          </a:solidFill>
                          <a:latin typeface="Arial"/>
                          <a:ea typeface="Arial"/>
                          <a:cs typeface="Arial"/>
                        </a:rPr>
                        <a:t>Adaptive K=1</a:t>
                      </a:r>
                    </a:p>
                  </a:txBody>
                  <a:tcPr marL="91440" marR="91440" marT="45720" marB="45720">
                    <a:solidFill>
                      <a:srgbClr val="FFFFFF"/>
                    </a:solidFill>
                  </a:tcPr>
                </a:tc>
                <a:tc>
                  <a:txBody>
                    <a:bodyPr/>
                    <a:lstStyle/>
                    <a:p>
                      <a:r>
                        <a:rPr sz="2025" b="0">
                          <a:solidFill>
                            <a:srgbClr val="173348"/>
                          </a:solidFill>
                          <a:latin typeface="Arial"/>
                          <a:ea typeface="Arial"/>
                          <a:cs typeface="Arial"/>
                        </a:rPr>
                        <a:t>110,8 ms</a:t>
                      </a:r>
                    </a:p>
                  </a:txBody>
                  <a:tcPr marL="91440" marR="91440" marT="45720" marB="45720">
                    <a:solidFill>
                      <a:srgbClr val="FFFFFF"/>
                    </a:solidFill>
                  </a:tcPr>
                </a:tc>
                <a:tc>
                  <a:txBody>
                    <a:bodyPr/>
                    <a:lstStyle/>
                    <a:p>
                      <a:r>
                        <a:rPr sz="2025" b="0">
                          <a:solidFill>
                            <a:srgbClr val="173348"/>
                          </a:solidFill>
                          <a:latin typeface="Arial"/>
                          <a:ea typeface="Arial"/>
                          <a:cs typeface="Arial"/>
                        </a:rPr>
                        <a:t>171,4 ms</a:t>
                      </a:r>
                    </a:p>
                  </a:txBody>
                  <a:tcPr marL="91440" marR="91440" marT="45720" marB="45720">
                    <a:solidFill>
                      <a:srgbClr val="FFFFFF"/>
                    </a:solidFill>
                  </a:tcPr>
                </a:tc>
                <a:tc>
                  <a:txBody>
                    <a:bodyPr/>
                    <a:lstStyle/>
                    <a:p>
                      <a:r>
                        <a:rPr sz="2025" b="0">
                          <a:solidFill>
                            <a:srgbClr val="173348"/>
                          </a:solidFill>
                          <a:latin typeface="Arial"/>
                          <a:ea typeface="Arial"/>
                          <a:cs typeface="Arial"/>
                        </a:rPr>
                        <a:t>2</a:t>
                      </a:r>
                    </a:p>
                  </a:txBody>
                  <a:tcPr marL="91440" marR="91440" marT="45720" marB="45720">
                    <a:solidFill>
                      <a:srgbClr val="FFFFFF"/>
                    </a:solidFill>
                  </a:tcPr>
                </a:tc>
              </a:tr>
              <a:tr h="552450">
                <a:tc>
                  <a:txBody>
                    <a:bodyPr/>
                    <a:lstStyle/>
                    <a:p>
                      <a:r>
                        <a:rPr sz="2025" b="0">
                          <a:solidFill>
                            <a:srgbClr val="173348"/>
                          </a:solidFill>
                          <a:latin typeface="Arial"/>
                          <a:ea typeface="Arial"/>
                          <a:cs typeface="Arial"/>
                        </a:rPr>
                        <a:t>Adaptive K=3</a:t>
                      </a:r>
                    </a:p>
                  </a:txBody>
                  <a:tcPr marL="91440" marR="91440" marT="45720" marB="45720">
                    <a:solidFill>
                      <a:srgbClr val="F0F6F8"/>
                    </a:solidFill>
                  </a:tcPr>
                </a:tc>
                <a:tc>
                  <a:txBody>
                    <a:bodyPr/>
                    <a:lstStyle/>
                    <a:p>
                      <a:r>
                        <a:rPr sz="2025" b="0">
                          <a:solidFill>
                            <a:srgbClr val="173348"/>
                          </a:solidFill>
                          <a:latin typeface="Arial"/>
                          <a:ea typeface="Arial"/>
                          <a:cs typeface="Arial"/>
                        </a:rPr>
                        <a:t>147,5 ms</a:t>
                      </a:r>
                    </a:p>
                  </a:txBody>
                  <a:tcPr marL="91440" marR="91440" marT="45720" marB="45720">
                    <a:solidFill>
                      <a:srgbClr val="F0F6F8"/>
                    </a:solidFill>
                  </a:tcPr>
                </a:tc>
                <a:tc>
                  <a:txBody>
                    <a:bodyPr/>
                    <a:lstStyle/>
                    <a:p>
                      <a:r>
                        <a:rPr sz="2025" b="0">
                          <a:solidFill>
                            <a:srgbClr val="173348"/>
                          </a:solidFill>
                          <a:latin typeface="Arial"/>
                          <a:ea typeface="Arial"/>
                          <a:cs typeface="Arial"/>
                        </a:rPr>
                        <a:t>216,5 ms</a:t>
                      </a:r>
                    </a:p>
                  </a:txBody>
                  <a:tcPr marL="91440" marR="91440" marT="45720" marB="45720">
                    <a:solidFill>
                      <a:srgbClr val="F0F6F8"/>
                    </a:solidFill>
                  </a:tcPr>
                </a:tc>
                <a:tc>
                  <a:txBody>
                    <a:bodyPr/>
                    <a:lstStyle/>
                    <a:p>
                      <a:r>
                        <a:rPr sz="2025" b="0">
                          <a:solidFill>
                            <a:srgbClr val="173348"/>
                          </a:solidFill>
                          <a:latin typeface="Arial"/>
                          <a:ea typeface="Arial"/>
                          <a:cs typeface="Arial"/>
                        </a:rPr>
                        <a:t>4</a:t>
                      </a:r>
                    </a:p>
                  </a:txBody>
                  <a:tcPr marL="91440" marR="91440" marT="45720" marB="45720">
                    <a:solidFill>
                      <a:srgbClr val="F0F6F8"/>
                    </a:solidFill>
                  </a:tcPr>
                </a:tc>
              </a:tr>
              <a:tr h="552450">
                <a:tc>
                  <a:txBody>
                    <a:bodyPr/>
                    <a:lstStyle/>
                    <a:p>
                      <a:r>
                        <a:rPr sz="2025" b="0">
                          <a:solidFill>
                            <a:srgbClr val="173348"/>
                          </a:solidFill>
                          <a:latin typeface="Arial"/>
                          <a:ea typeface="Arial"/>
                          <a:cs typeface="Arial"/>
                        </a:rPr>
                        <a:t>Sliding</a:t>
                      </a:r>
                    </a:p>
                  </a:txBody>
                  <a:tcPr marL="91440" marR="91440" marT="45720" marB="45720">
                    <a:solidFill>
                      <a:srgbClr val="FFFFFF"/>
                    </a:solidFill>
                  </a:tcPr>
                </a:tc>
                <a:tc>
                  <a:txBody>
                    <a:bodyPr/>
                    <a:lstStyle/>
                    <a:p>
                      <a:r>
                        <a:rPr sz="2025" b="0">
                          <a:solidFill>
                            <a:srgbClr val="173348"/>
                          </a:solidFill>
                          <a:latin typeface="Arial"/>
                          <a:ea typeface="Arial"/>
                          <a:cs typeface="Arial"/>
                        </a:rPr>
                        <a:t>510,3 ms</a:t>
                      </a:r>
                    </a:p>
                  </a:txBody>
                  <a:tcPr marL="91440" marR="91440" marT="45720" marB="45720">
                    <a:solidFill>
                      <a:srgbClr val="FFFFFF"/>
                    </a:solidFill>
                  </a:tcPr>
                </a:tc>
                <a:tc>
                  <a:txBody>
                    <a:bodyPr/>
                    <a:lstStyle/>
                    <a:p>
                      <a:r>
                        <a:rPr sz="2025" b="0">
                          <a:solidFill>
                            <a:srgbClr val="173348"/>
                          </a:solidFill>
                          <a:latin typeface="Arial"/>
                          <a:ea typeface="Arial"/>
                          <a:cs typeface="Arial"/>
                        </a:rPr>
                        <a:t>698,4 ms</a:t>
                      </a:r>
                    </a:p>
                  </a:txBody>
                  <a:tcPr marL="91440" marR="91440" marT="45720" marB="45720">
                    <a:solidFill>
                      <a:srgbClr val="FFFFFF"/>
                    </a:solidFill>
                  </a:tcPr>
                </a:tc>
                <a:tc>
                  <a:txBody>
                    <a:bodyPr/>
                    <a:lstStyle/>
                    <a:p>
                      <a:r>
                        <a:rPr sz="2025" b="0">
                          <a:solidFill>
                            <a:srgbClr val="173348"/>
                          </a:solidFill>
                          <a:latin typeface="Arial"/>
                          <a:ea typeface="Arial"/>
                          <a:cs typeface="Arial"/>
                        </a:rPr>
                        <a:t>25</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ED94936-F6EE-4ED1-AEFF-35CDC43C501A}"/>
              </a:ext>
            </a:extLst>
          </p:cNvPr>
          <p:cNvSpPr>
            <a:spLocks xmlns:a="http://schemas.openxmlformats.org/drawingml/2006/main" noGrp="1"/>
          </p:cNvSpPr>
          <p:nvPr/>
        </p:nvSpPr>
        <p:spPr>
          <a:xfrm xmlns:a="http://schemas.openxmlformats.org/drawingml/2006/main">
            <a:off x="552450" y="4524375"/>
            <a:ext cx="11087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87F8C"/>
                </a:solidFill>
                <a:latin typeface="Arial"/>
                <a:ea typeface="Arial"/>
                <a:cs typeface="Arial"/>
              </a:defRPr>
            </a:defPPr>
          </a:lstStyle>
          <a:p xmlns:a="http://schemas.openxmlformats.org/drawingml/2006/main">
            <a:pPr>
              <a:defRPr sz="2475" b="1">
                <a:solidFill>
                  <a:srgbClr val="087F8C"/>
                </a:solidFill>
                <a:latin typeface="Arial"/>
                <a:ea typeface="Arial"/>
                <a:cs typeface="Arial"/>
              </a:defRPr>
            </a:pPr>
            <a:r>
              <a:rPr sz="2475" b="1">
                <a:solidFill>
                  <a:srgbClr val="087F8C"/>
                </a:solidFill>
                <a:latin typeface="Arial"/>
                <a:ea typeface="Arial"/>
                <a:cs typeface="Arial"/>
              </a:rPr>
              <a:t>Sliding / K=3: 3,46×  [%95 GA: 3,33–3,62]</a:t>
            </a:r>
          </a:p>
          <a:p xmlns:a="http://schemas.openxmlformats.org/drawingml/2006/main">
            <a:pPr>
              <a:defRPr sz="2475" b="1">
                <a:solidFill>
                  <a:srgbClr val="087F8C"/>
                </a:solidFill>
                <a:latin typeface="Arial"/>
                <a:ea typeface="Arial"/>
                <a:cs typeface="Arial"/>
              </a:defRPr>
            </a:pPr>
            <a:r>
              <a:rPr sz="2475" b="1">
                <a:solidFill>
                  <a:srgbClr val="087F8C"/>
                </a:solidFill>
                <a:latin typeface="Arial"/>
                <a:ea typeface="Arial"/>
                <a:cs typeface="Arial"/>
              </a:rPr>
              <a:t>K=3 süre azalması: %71,10</a:t>
            </a:r>
          </a:p>
        </p:txBody>
      </p:sp>
      <p:sp>
        <p:nvSpPr>
          <p:cNvPr id="5" name="">
            <a:extLst xmlns:a="http://schemas.openxmlformats.org/drawingml/2006/main">
              <a:ext uri="{FF2B5EF4-FFF2-40B4-BE49-F238E27FC236}">
                <a16:creationId xmlns:a16="http://schemas.microsoft.com/office/drawing/2014/main" id="{37BEE92F-1C59-4B78-9280-F49F41BC86EA}"/>
              </a:ext>
            </a:extLst>
          </p:cNvPr>
          <p:cNvSpPr>
            <a:spLocks xmlns:a="http://schemas.openxmlformats.org/drawingml/2006/main" noGrp="1"/>
          </p:cNvSpPr>
          <p:nvPr/>
        </p:nvSpPr>
        <p:spPr>
          <a:xfrm xmlns:a="http://schemas.openxmlformats.org/drawingml/2006/main">
            <a:off x="552450" y="5715000"/>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673"/>
                </a:solidFill>
                <a:latin typeface="Arial"/>
                <a:ea typeface="Arial"/>
                <a:cs typeface="Arial"/>
              </a:defRPr>
            </a:defPPr>
          </a:lstStyle>
          <a:p xmlns:a="http://schemas.openxmlformats.org/drawingml/2006/main">
            <a:pPr>
              <a:defRPr sz="1800" b="0">
                <a:solidFill>
                  <a:srgbClr val="536673"/>
                </a:solidFill>
                <a:latin typeface="Arial"/>
                <a:ea typeface="Arial"/>
                <a:cs typeface="Arial"/>
              </a:defRPr>
            </a:pPr>
            <a:r>
              <a:rPr sz="1800" b="0">
                <a:solidFill>
                  <a:srgbClr val="536673"/>
                </a:solidFill>
                <a:latin typeface="Arial"/>
                <a:ea typeface="Arial"/>
                <a:cs typeface="Arial"/>
              </a:rPr>
              <a:t>Tesla T4, aynı 100 görüntü, seri sliding uygulaması.</a:t>
            </a:r>
          </a:p>
          <a:p xmlns:a="http://schemas.openxmlformats.org/drawingml/2006/main">
            <a:pPr>
              <a:defRPr sz="1800" b="0">
                <a:solidFill>
                  <a:srgbClr val="536673"/>
                </a:solidFill>
                <a:latin typeface="Arial"/>
                <a:ea typeface="Arial"/>
                <a:cs typeface="Arial"/>
              </a:defRPr>
            </a:pPr>
            <a:r>
              <a:rPr sz="1800" b="0">
                <a:solidFill>
                  <a:srgbClr val="536673"/>
                </a:solidFill>
                <a:latin typeface="Arial"/>
                <a:ea typeface="Arial"/>
                <a:cs typeface="Arial"/>
              </a:rPr>
              <a:t>Süre karşılaştırması bu uygulama ve oturum koşullarına aittir.</a:t>
            </a:r>
          </a:p>
        </p:txBody>
      </p:sp>
    </p:spTree>
    <p:extLst>
      <p:ext uri="{BB962C8B-B14F-4D97-AF65-F5344CB8AC3E}">
        <p14:creationId xmlns:p14="http://schemas.microsoft.com/office/powerpoint/2010/main" val="13567863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9BC4E67-C89C-483D-8A8F-471EB7961C2B}"/>
              </a:ext>
            </a:extLst>
          </p:cNvPr>
          <p:cNvSpPr>
            <a:spLocks xmlns:a="http://schemas.openxmlformats.org/drawingml/2006/main" noGrp="1"/>
          </p:cNvSpPr>
          <p:nvPr/>
        </p:nvSpPr>
        <p:spPr>
          <a:xfrm xmlns:a="http://schemas.openxmlformats.org/drawingml/2006/main">
            <a:off x="552450" y="361950"/>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348"/>
                </a:solidFill>
                <a:latin typeface="Arial"/>
                <a:ea typeface="Arial"/>
                <a:cs typeface="Arial"/>
              </a:defRPr>
            </a:defPPr>
          </a:lstStyle>
          <a:p xmlns:a="http://schemas.openxmlformats.org/drawingml/2006/main">
            <a:pPr>
              <a:defRPr sz="3300" b="1">
                <a:solidFill>
                  <a:srgbClr val="173348"/>
                </a:solidFill>
                <a:latin typeface="Arial"/>
                <a:ea typeface="Arial"/>
                <a:cs typeface="Arial"/>
              </a:defRPr>
            </a:pPr>
            <a:r>
              <a:rPr sz="3300" b="1">
                <a:solidFill>
                  <a:srgbClr val="173348"/>
                </a:solidFill>
                <a:latin typeface="Arial"/>
                <a:ea typeface="Arial"/>
                <a:cs typeface="Arial"/>
              </a:rPr>
              <a:t>Başarılı örnek: sınırlar daha iyi temsil edildi</a:t>
            </a:r>
          </a:p>
        </p:txBody>
      </p:sp>
      <p:sp>
        <p:nvSpPr>
          <p:cNvPr id="2" name="">
            <a:extLst xmlns:a="http://schemas.openxmlformats.org/drawingml/2006/main">
              <a:ext uri="{FF2B5EF4-FFF2-40B4-BE49-F238E27FC236}">
                <a16:creationId xmlns:a16="http://schemas.microsoft.com/office/drawing/2014/main" id="{21355EBB-94C1-4BBF-B048-E102683FECF6}"/>
              </a:ext>
            </a:extLst>
          </p:cNvPr>
          <p:cNvSpPr>
            <a:spLocks xmlns:a="http://schemas.openxmlformats.org/drawingml/2006/main" noGrp="1"/>
          </p:cNvSpPr>
          <p:nvPr/>
        </p:nvSpPr>
        <p:spPr>
          <a:xfrm xmlns:a="http://schemas.openxmlformats.org/drawingml/2006/main">
            <a:off x="11334750" y="64389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673"/>
                </a:solidFill>
                <a:latin typeface="Arial"/>
                <a:ea typeface="Arial"/>
                <a:cs typeface="Arial"/>
              </a:defRPr>
            </a:defPPr>
          </a:lstStyle>
          <a:p xmlns:a="http://schemas.openxmlformats.org/drawingml/2006/main">
            <a:pPr>
              <a:defRPr sz="1350" b="0">
                <a:solidFill>
                  <a:srgbClr val="536673"/>
                </a:solidFill>
                <a:latin typeface="Arial"/>
                <a:ea typeface="Arial"/>
                <a:cs typeface="Arial"/>
              </a:defRPr>
            </a:pPr>
            <a:r>
              <a:rPr sz="1350" b="0">
                <a:solidFill>
                  <a:srgbClr val="536673"/>
                </a:solidFill>
                <a:latin typeface="Arial"/>
                <a:ea typeface="Arial"/>
                <a:cs typeface="Arial"/>
              </a:rPr>
              <a:t>8</a:t>
            </a:r>
          </a:p>
        </p:txBody>
      </p:sp>
      <p:pic>
        <p:nvPicPr>
          <p:cNvPr id="3" name="">
            <a:extLst xmlns:a="http://schemas.openxmlformats.org/drawingml/2006/main">
              <a:ext uri="{FF2B5EF4-FFF2-40B4-BE49-F238E27FC236}">
                <a16:creationId xmlns:a16="http://schemas.microsoft.com/office/drawing/2014/main" id="{B34D41D9-E34E-49E1-9E77-107027F350CA}"/>
              </a:ext>
            </a:extLst>
          </p:cNvPr>
          <p:cNvPicPr>
            <a:picLocks xmlns:a="http://schemas.openxmlformats.org/drawingml/2006/main" noChangeAspect="1"/>
          </p:cNvPicPr>
          <p:nvPr/>
        </p:nvPicPr>
        <p:blipFill>
          <a:blip xmlns:r="http://schemas.openxmlformats.org/officeDocument/2006/relationships" xmlns:a="http://schemas.openxmlformats.org/drawingml/2006/main" r:embed="R792d62e5b6074145"/>
          <a:stretch xmlns:a="http://schemas.openxmlformats.org/drawingml/2006/main"/>
        </p:blipFill>
        <p:spPr>
          <a:xfrm xmlns:a="http://schemas.openxmlformats.org/drawingml/2006/main">
            <a:off x="1573801" y="1285875"/>
            <a:ext cx="9044398" cy="4476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309B12F-8A34-48F2-9196-05D5B67357CE}"/>
              </a:ext>
            </a:extLst>
          </p:cNvPr>
          <p:cNvSpPr>
            <a:spLocks xmlns:a="http://schemas.openxmlformats.org/drawingml/2006/main" noGrp="1"/>
          </p:cNvSpPr>
          <p:nvPr/>
        </p:nvSpPr>
        <p:spPr>
          <a:xfrm xmlns:a="http://schemas.openxmlformats.org/drawingml/2006/main">
            <a:off x="552450" y="6019800"/>
            <a:ext cx="11087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87F8C"/>
                </a:solidFill>
                <a:latin typeface="Arial"/>
                <a:ea typeface="Arial"/>
                <a:cs typeface="Arial"/>
              </a:defRPr>
            </a:def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Index 9   |   Image mIoU: 0,8301 → 0,9512   |   K=3, 4 geçiş</a:t>
            </a:r>
          </a:p>
        </p:txBody>
      </p:sp>
    </p:spTree>
    <p:extLst>
      <p:ext uri="{BB962C8B-B14F-4D97-AF65-F5344CB8AC3E}">
        <p14:creationId xmlns:p14="http://schemas.microsoft.com/office/powerpoint/2010/main" val="21435989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419B030-06CE-4766-A082-EAAFD57B6868}"/>
              </a:ext>
            </a:extLst>
          </p:cNvPr>
          <p:cNvSpPr>
            <a:spLocks xmlns:a="http://schemas.openxmlformats.org/drawingml/2006/main" noGrp="1"/>
          </p:cNvSpPr>
          <p:nvPr/>
        </p:nvSpPr>
        <p:spPr>
          <a:xfrm xmlns:a="http://schemas.openxmlformats.org/drawingml/2006/main">
            <a:off x="552450" y="361950"/>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348"/>
                </a:solidFill>
                <a:latin typeface="Arial"/>
                <a:ea typeface="Arial"/>
                <a:cs typeface="Arial"/>
              </a:defRPr>
            </a:defPPr>
          </a:lstStyle>
          <a:p xmlns:a="http://schemas.openxmlformats.org/drawingml/2006/main">
            <a:pPr>
              <a:defRPr sz="3300" b="1">
                <a:solidFill>
                  <a:srgbClr val="173348"/>
                </a:solidFill>
                <a:latin typeface="Arial"/>
                <a:ea typeface="Arial"/>
                <a:cs typeface="Arial"/>
              </a:defRPr>
            </a:pPr>
            <a:r>
              <a:rPr sz="3300" b="1">
                <a:solidFill>
                  <a:srgbClr val="173348"/>
                </a:solidFill>
                <a:latin typeface="Arial"/>
                <a:ea typeface="Arial"/>
                <a:cs typeface="Arial"/>
              </a:rPr>
              <a:t>Hata örneği: doğru seçim, kötü refinement</a:t>
            </a:r>
          </a:p>
        </p:txBody>
      </p:sp>
      <p:sp>
        <p:nvSpPr>
          <p:cNvPr id="2" name="">
            <a:extLst xmlns:a="http://schemas.openxmlformats.org/drawingml/2006/main">
              <a:ext uri="{FF2B5EF4-FFF2-40B4-BE49-F238E27FC236}">
                <a16:creationId xmlns:a16="http://schemas.microsoft.com/office/drawing/2014/main" id="{A44167B4-DC66-4737-9501-DAAE71845C84}"/>
              </a:ext>
            </a:extLst>
          </p:cNvPr>
          <p:cNvSpPr>
            <a:spLocks xmlns:a="http://schemas.openxmlformats.org/drawingml/2006/main" noGrp="1"/>
          </p:cNvSpPr>
          <p:nvPr/>
        </p:nvSpPr>
        <p:spPr>
          <a:xfrm xmlns:a="http://schemas.openxmlformats.org/drawingml/2006/main">
            <a:off x="11334750" y="64389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673"/>
                </a:solidFill>
                <a:latin typeface="Arial"/>
                <a:ea typeface="Arial"/>
                <a:cs typeface="Arial"/>
              </a:defRPr>
            </a:defPPr>
          </a:lstStyle>
          <a:p xmlns:a="http://schemas.openxmlformats.org/drawingml/2006/main">
            <a:pPr>
              <a:defRPr sz="1350" b="0">
                <a:solidFill>
                  <a:srgbClr val="536673"/>
                </a:solidFill>
                <a:latin typeface="Arial"/>
                <a:ea typeface="Arial"/>
                <a:cs typeface="Arial"/>
              </a:defRPr>
            </a:pPr>
            <a:r>
              <a:rPr sz="1350" b="0">
                <a:solidFill>
                  <a:srgbClr val="536673"/>
                </a:solidFill>
                <a:latin typeface="Arial"/>
                <a:ea typeface="Arial"/>
                <a:cs typeface="Arial"/>
              </a:rPr>
              <a:t>9</a:t>
            </a:r>
          </a:p>
        </p:txBody>
      </p:sp>
      <p:pic>
        <p:nvPicPr>
          <p:cNvPr id="3" name="">
            <a:extLst xmlns:a="http://schemas.openxmlformats.org/drawingml/2006/main">
              <a:ext uri="{FF2B5EF4-FFF2-40B4-BE49-F238E27FC236}">
                <a16:creationId xmlns:a16="http://schemas.microsoft.com/office/drawing/2014/main" id="{EE7F56F6-8B5D-4759-BE34-4A8D3B7178C3}"/>
              </a:ext>
            </a:extLst>
          </p:cNvPr>
          <p:cNvPicPr>
            <a:picLocks xmlns:a="http://schemas.openxmlformats.org/drawingml/2006/main" noChangeAspect="1"/>
          </p:cNvPicPr>
          <p:nvPr/>
        </p:nvPicPr>
        <p:blipFill>
          <a:blip xmlns:r="http://schemas.openxmlformats.org/officeDocument/2006/relationships" xmlns:a="http://schemas.openxmlformats.org/drawingml/2006/main" r:embed="R7f9daed893534d0d"/>
          <a:stretch xmlns:a="http://schemas.openxmlformats.org/drawingml/2006/main"/>
        </p:blipFill>
        <p:spPr>
          <a:xfrm xmlns:a="http://schemas.openxmlformats.org/drawingml/2006/main">
            <a:off x="1573801" y="1285875"/>
            <a:ext cx="9044398" cy="4476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700EF30-799C-40D5-A3D0-B2EBD0110A35}"/>
              </a:ext>
            </a:extLst>
          </p:cNvPr>
          <p:cNvSpPr>
            <a:spLocks xmlns:a="http://schemas.openxmlformats.org/drawingml/2006/main" noGrp="1"/>
          </p:cNvSpPr>
          <p:nvPr/>
        </p:nvSpPr>
        <p:spPr>
          <a:xfrm xmlns:a="http://schemas.openxmlformats.org/drawingml/2006/main">
            <a:off x="552450" y="6019800"/>
            <a:ext cx="11087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9C3535"/>
                </a:solidFill>
                <a:latin typeface="Arial"/>
                <a:ea typeface="Arial"/>
                <a:cs typeface="Arial"/>
              </a:defRPr>
            </a:defPPr>
          </a:lstStyle>
          <a:p xmlns:a="http://schemas.openxmlformats.org/drawingml/2006/main">
            <a:pPr>
              <a:defRPr sz="2025" b="1">
                <a:solidFill>
                  <a:srgbClr val="9C3535"/>
                </a:solidFill>
                <a:latin typeface="Arial"/>
                <a:ea typeface="Arial"/>
                <a:cs typeface="Arial"/>
              </a:defRPr>
            </a:pPr>
            <a:r>
              <a:rPr sz="2025" b="1">
                <a:solidFill>
                  <a:srgbClr val="9C3535"/>
                </a:solidFill>
                <a:latin typeface="Arial"/>
                <a:ea typeface="Arial"/>
                <a:cs typeface="Arial"/>
              </a:rPr>
              <a:t>Index 10   |   Image mIoU: 0,4658 → 0,3208   |   Değişim: −14,50 puan</a:t>
            </a:r>
          </a:p>
        </p:txBody>
      </p:sp>
    </p:spTree>
    <p:extLst>
      <p:ext uri="{BB962C8B-B14F-4D97-AF65-F5344CB8AC3E}">
        <p14:creationId xmlns:p14="http://schemas.microsoft.com/office/powerpoint/2010/main" val="174318543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B226434-E232-4ACE-8441-D2E3F6D2BCBF}"/>
              </a:ext>
            </a:extLst>
          </p:cNvPr>
          <p:cNvSpPr>
            <a:spLocks xmlns:a="http://schemas.openxmlformats.org/drawingml/2006/main" noGrp="1"/>
          </p:cNvSpPr>
          <p:nvPr/>
        </p:nvSpPr>
        <p:spPr>
          <a:xfrm xmlns:a="http://schemas.openxmlformats.org/drawingml/2006/main">
            <a:off x="552450" y="361950"/>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348"/>
                </a:solidFill>
                <a:latin typeface="Arial"/>
                <a:ea typeface="Arial"/>
                <a:cs typeface="Arial"/>
              </a:defRPr>
            </a:defPPr>
          </a:lstStyle>
          <a:p xmlns:a="http://schemas.openxmlformats.org/drawingml/2006/main">
            <a:pPr>
              <a:defRPr sz="3300" b="1">
                <a:solidFill>
                  <a:srgbClr val="173348"/>
                </a:solidFill>
                <a:latin typeface="Arial"/>
                <a:ea typeface="Arial"/>
                <a:cs typeface="Arial"/>
              </a:defRPr>
            </a:pPr>
            <a:r>
              <a:rPr sz="3300" b="1">
                <a:solidFill>
                  <a:srgbClr val="173348"/>
                </a:solidFill>
                <a:latin typeface="Arial"/>
                <a:ea typeface="Arial"/>
                <a:cs typeface="Arial"/>
              </a:rPr>
              <a:t>Sonuç ve sonraki çalışma</a:t>
            </a:r>
          </a:p>
        </p:txBody>
      </p:sp>
      <p:sp>
        <p:nvSpPr>
          <p:cNvPr id="2" name="">
            <a:extLst xmlns:a="http://schemas.openxmlformats.org/drawingml/2006/main">
              <a:ext uri="{FF2B5EF4-FFF2-40B4-BE49-F238E27FC236}">
                <a16:creationId xmlns:a16="http://schemas.microsoft.com/office/drawing/2014/main" id="{BD50874D-E94B-4A56-8256-BF5BF5682053}"/>
              </a:ext>
            </a:extLst>
          </p:cNvPr>
          <p:cNvSpPr>
            <a:spLocks xmlns:a="http://schemas.openxmlformats.org/drawingml/2006/main" noGrp="1"/>
          </p:cNvSpPr>
          <p:nvPr/>
        </p:nvSpPr>
        <p:spPr>
          <a:xfrm xmlns:a="http://schemas.openxmlformats.org/drawingml/2006/main">
            <a:off x="11334750" y="6438900"/>
            <a:ext cx="38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673"/>
                </a:solidFill>
                <a:latin typeface="Arial"/>
                <a:ea typeface="Arial"/>
                <a:cs typeface="Arial"/>
              </a:defRPr>
            </a:defPPr>
          </a:lstStyle>
          <a:p xmlns:a="http://schemas.openxmlformats.org/drawingml/2006/main">
            <a:pPr>
              <a:defRPr sz="1350" b="0">
                <a:solidFill>
                  <a:srgbClr val="536673"/>
                </a:solidFill>
                <a:latin typeface="Arial"/>
                <a:ea typeface="Arial"/>
                <a:cs typeface="Arial"/>
              </a:defRPr>
            </a:pPr>
            <a:r>
              <a:rPr sz="1350" b="0">
                <a:solidFill>
                  <a:srgbClr val="536673"/>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9BB79703-44C7-4CB6-BBBA-1ACA6A300D0C}"/>
              </a:ext>
            </a:extLst>
          </p:cNvPr>
          <p:cNvSpPr>
            <a:spLocks xmlns:a="http://schemas.openxmlformats.org/drawingml/2006/main" noGrp="1"/>
          </p:cNvSpPr>
          <p:nvPr/>
        </p:nvSpPr>
        <p:spPr>
          <a:xfrm xmlns:a="http://schemas.openxmlformats.org/drawingml/2006/main">
            <a:off x="552450" y="1428750"/>
            <a:ext cx="1108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87F8C"/>
                </a:solidFill>
                <a:latin typeface="Arial"/>
                <a:ea typeface="Arial"/>
                <a:cs typeface="Arial"/>
              </a:defRPr>
            </a:defPPr>
          </a:lstStyle>
          <a:p xmlns:a="http://schemas.openxmlformats.org/drawingml/2006/main">
            <a:pPr>
              <a:defRPr sz="2700" b="1">
                <a:solidFill>
                  <a:srgbClr val="087F8C"/>
                </a:solidFill>
                <a:latin typeface="Arial"/>
                <a:ea typeface="Arial"/>
                <a:cs typeface="Arial"/>
              </a:defRPr>
            </a:pPr>
            <a:r>
              <a:rPr sz="2700" b="1">
                <a:solidFill>
                  <a:srgbClr val="087F8C"/>
                </a:solidFill>
                <a:latin typeface="Arial"/>
                <a:ea typeface="Arial"/>
                <a:cs typeface="Arial"/>
              </a:rPr>
              <a:t>Entropy seçimi, eş bütçeli random’a göre</a:t>
            </a:r>
          </a:p>
          <a:p xmlns:a="http://schemas.openxmlformats.org/drawingml/2006/main">
            <a:pPr>
              <a:defRPr sz="2700" b="1">
                <a:solidFill>
                  <a:srgbClr val="087F8C"/>
                </a:solidFill>
                <a:latin typeface="Arial"/>
                <a:ea typeface="Arial"/>
                <a:cs typeface="Arial"/>
              </a:defRPr>
            </a:pPr>
            <a:r>
              <a:rPr sz="2700" b="1">
                <a:solidFill>
                  <a:srgbClr val="087F8C"/>
                </a:solidFill>
                <a:latin typeface="Arial"/>
                <a:ea typeface="Arial"/>
                <a:cs typeface="Arial"/>
              </a:rPr>
              <a:t>+0,80 puan katkı sağladı.</a:t>
            </a:r>
          </a:p>
        </p:txBody>
      </p:sp>
      <p:sp>
        <p:nvSpPr>
          <p:cNvPr id="4" name="">
            <a:extLst xmlns:a="http://schemas.openxmlformats.org/drawingml/2006/main">
              <a:ext uri="{FF2B5EF4-FFF2-40B4-BE49-F238E27FC236}">
                <a16:creationId xmlns:a16="http://schemas.microsoft.com/office/drawing/2014/main" id="{6B87359B-676F-45D1-98B9-CE36E73CB041}"/>
              </a:ext>
            </a:extLst>
          </p:cNvPr>
          <p:cNvSpPr>
            <a:spLocks xmlns:a="http://schemas.openxmlformats.org/drawingml/2006/main" noGrp="1"/>
          </p:cNvSpPr>
          <p:nvPr/>
        </p:nvSpPr>
        <p:spPr>
          <a:xfrm xmlns:a="http://schemas.openxmlformats.org/drawingml/2006/main">
            <a:off x="552450" y="2809875"/>
            <a:ext cx="110871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73348"/>
                </a:solidFill>
                <a:latin typeface="Arial"/>
                <a:ea typeface="Arial"/>
                <a:cs typeface="Arial"/>
              </a:defRPr>
            </a:defPPr>
          </a:lstStyle>
          <a:p xmlns:a="http://schemas.openxmlformats.org/drawingml/2006/main">
            <a:pPr>
              <a:defRPr sz="2550" b="1">
                <a:solidFill>
                  <a:srgbClr val="173348"/>
                </a:solidFill>
                <a:latin typeface="Arial"/>
                <a:ea typeface="Arial"/>
                <a:cs typeface="Arial"/>
              </a:defRPr>
            </a:pPr>
            <a:r>
              <a:rPr sz="2550" b="1">
                <a:solidFill>
                  <a:srgbClr val="173348"/>
                </a:solidFill>
                <a:latin typeface="Arial"/>
                <a:ea typeface="Arial"/>
                <a:cs typeface="Arial"/>
              </a:rPr>
              <a:t>Sliding’e göre 1,05 puan düşük mIoU,</a:t>
            </a:r>
          </a:p>
          <a:p xmlns:a="http://schemas.openxmlformats.org/drawingml/2006/main">
            <a:pPr>
              <a:defRPr sz="2550" b="1">
                <a:solidFill>
                  <a:srgbClr val="173348"/>
                </a:solidFill>
                <a:latin typeface="Arial"/>
                <a:ea typeface="Arial"/>
                <a:cs typeface="Arial"/>
              </a:defRPr>
            </a:pPr>
            <a:r>
              <a:rPr sz="2550" b="1">
                <a:solidFill>
                  <a:srgbClr val="173348"/>
                </a:solidFill>
                <a:latin typeface="Arial"/>
                <a:ea typeface="Arial"/>
                <a:cs typeface="Arial"/>
              </a:rPr>
              <a:t>aynı süre grubunda %71,10 daha az süre.</a:t>
            </a:r>
          </a:p>
        </p:txBody>
      </p:sp>
      <p:sp>
        <p:nvSpPr>
          <p:cNvPr id="5" name="">
            <a:extLst xmlns:a="http://schemas.openxmlformats.org/drawingml/2006/main">
              <a:ext uri="{FF2B5EF4-FFF2-40B4-BE49-F238E27FC236}">
                <a16:creationId xmlns:a16="http://schemas.microsoft.com/office/drawing/2014/main" id="{16C2E66D-6EB2-41FB-99DA-5A06D11AB8DF}"/>
              </a:ext>
            </a:extLst>
          </p:cNvPr>
          <p:cNvSpPr>
            <a:spLocks xmlns:a="http://schemas.openxmlformats.org/drawingml/2006/main" noGrp="1"/>
          </p:cNvSpPr>
          <p:nvPr/>
        </p:nvSpPr>
        <p:spPr>
          <a:xfrm xmlns:a="http://schemas.openxmlformats.org/drawingml/2006/main">
            <a:off x="552450" y="4429125"/>
            <a:ext cx="110871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348"/>
                </a:solidFill>
                <a:latin typeface="Arial"/>
                <a:ea typeface="Arial"/>
                <a:cs typeface="Arial"/>
              </a:defRPr>
            </a:defPPr>
          </a:lstStyle>
          <a:p xmlns:a="http://schemas.openxmlformats.org/drawingml/2006/main">
            <a:pPr>
              <a:defRPr sz="2100" b="0">
                <a:solidFill>
                  <a:srgbClr val="173348"/>
                </a:solidFill>
                <a:latin typeface="Arial"/>
                <a:ea typeface="Arial"/>
                <a:cs typeface="Arial"/>
              </a:defRPr>
            </a:pPr>
            <a:r>
              <a:rPr sz="2100" b="0">
                <a:solidFill>
                  <a:srgbClr val="173348"/>
                </a:solidFill>
                <a:latin typeface="Arial"/>
                <a:ea typeface="Arial"/>
                <a:cs typeface="Arial"/>
              </a:rPr>
              <a:t>Sınırlar: baseline’a üstünlük kesinleşmedi, crop’lar bazı örnekleri bozuyor.</a:t>
            </a:r>
          </a:p>
          <a:p xmlns:a="http://schemas.openxmlformats.org/drawingml/2006/main">
            <a:pPr>
              <a:defRPr sz="2100" b="0">
                <a:solidFill>
                  <a:srgbClr val="173348"/>
                </a:solidFill>
                <a:latin typeface="Arial"/>
                <a:ea typeface="Arial"/>
                <a:cs typeface="Arial"/>
              </a:defRPr>
            </a:pPr>
            <a:r>
              <a:rPr sz="2100" b="0">
                <a:solidFill>
                  <a:srgbClr val="173348"/>
                </a:solidFill>
                <a:latin typeface="Arial"/>
                <a:ea typeface="Arial"/>
                <a:cs typeface="Arial"/>
              </a:rPr>
              <a:t>Sonraki çalışma: yerel tahmini kabul eden kalite kontrolü,</a:t>
            </a:r>
          </a:p>
          <a:p xmlns:a="http://schemas.openxmlformats.org/drawingml/2006/main">
            <a:pPr>
              <a:defRPr sz="2100" b="0">
                <a:solidFill>
                  <a:srgbClr val="173348"/>
                </a:solidFill>
                <a:latin typeface="Arial"/>
                <a:ea typeface="Arial"/>
                <a:cs typeface="Arial"/>
              </a:defRPr>
            </a:pPr>
            <a:r>
              <a:rPr sz="2100" b="0">
                <a:solidFill>
                  <a:srgbClr val="173348"/>
                </a:solidFill>
                <a:latin typeface="Arial"/>
                <a:ea typeface="Arial"/>
                <a:cs typeface="Arial"/>
              </a:rPr>
              <a:t>bağlamı koruyan refinement ve yeni veride doğrulama.</a:t>
            </a:r>
          </a:p>
        </p:txBody>
      </p:sp>
    </p:spTree>
    <p:extLst>
      <p:ext uri="{BB962C8B-B14F-4D97-AF65-F5344CB8AC3E}">
        <p14:creationId xmlns:p14="http://schemas.microsoft.com/office/powerpoint/2010/main" val="2060063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2026-10-08T14:50:06.4410000Z</dcterms:created>
  <dcterms:modified xsi:type="dcterms:W3CDTF">2026-10-08T14:50:06.4410000Z</dcterms:modified>
</coreProperties>
</file>